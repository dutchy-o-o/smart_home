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21383625" cy="30275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353" autoAdjust="0"/>
  </p:normalViewPr>
  <p:slideViewPr>
    <p:cSldViewPr snapToGrid="0" snapToObjects="1">
      <p:cViewPr varScale="1">
        <p:scale>
          <a:sx n="20" d="100"/>
          <a:sy n="20" d="100"/>
        </p:scale>
        <p:origin x="1762" y="1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1384000" cy="30275999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384000" cy="3960000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3960000"/>
            <a:ext cx="21384000" cy="90000"/>
          </a:xfrm>
          <a:prstGeom prst="rect">
            <a:avLst/>
          </a:prstGeom>
          <a:solidFill>
            <a:srgbClr val="E36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0000" y="216000"/>
            <a:ext cx="7200000" cy="503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DOKUZ EYLÜL ÜNİVERSİTESİ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720000"/>
            <a:ext cx="10080000" cy="36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500" b="0" i="0">
                <a:solidFill>
                  <a:srgbClr val="CFDAF0"/>
                </a:solidFill>
                <a:latin typeface="Calibri"/>
              </a:rPr>
              <a:t>Mühendislik Fakültesi  ·  Bilgisayar Mühendisliği Bölümü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" y="1044000"/>
            <a:ext cx="10080000" cy="236406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 i="1" dirty="0" err="1">
                <a:solidFill>
                  <a:srgbClr val="CFDAF0"/>
                </a:solidFill>
                <a:latin typeface="Calibri"/>
              </a:rPr>
              <a:t>Bitirme</a:t>
            </a:r>
            <a:r>
              <a:rPr sz="1300" b="0" i="1" dirty="0">
                <a:solidFill>
                  <a:srgbClr val="CFDAF0"/>
                </a:solidFill>
                <a:latin typeface="Calibri"/>
              </a:rPr>
              <a:t> </a:t>
            </a:r>
            <a:r>
              <a:rPr sz="1300" b="0" i="1" dirty="0" err="1">
                <a:solidFill>
                  <a:srgbClr val="CFDAF0"/>
                </a:solidFill>
                <a:latin typeface="Calibri"/>
              </a:rPr>
              <a:t>Projesi</a:t>
            </a:r>
            <a:r>
              <a:rPr sz="1300" b="0" i="1" dirty="0">
                <a:solidFill>
                  <a:srgbClr val="CFDAF0"/>
                </a:solidFill>
                <a:latin typeface="Calibri"/>
              </a:rPr>
              <a:t>  ·  </a:t>
            </a:r>
            <a:r>
              <a:rPr lang="tr-TR" sz="1300" b="0" i="1" dirty="0">
                <a:solidFill>
                  <a:srgbClr val="CFDAF0"/>
                </a:solidFill>
                <a:latin typeface="Calibri"/>
              </a:rPr>
              <a:t>Mayıs</a:t>
            </a:r>
            <a:r>
              <a:rPr sz="1300" b="0" i="1" dirty="0">
                <a:solidFill>
                  <a:srgbClr val="CFDAF0"/>
                </a:solidFill>
                <a:latin typeface="Calibri"/>
              </a:rPr>
              <a:t> 202</a:t>
            </a:r>
            <a:r>
              <a:rPr lang="tr-TR" sz="1300" b="0" i="1" dirty="0">
                <a:solidFill>
                  <a:srgbClr val="CFDAF0"/>
                </a:solidFill>
                <a:latin typeface="Calibri"/>
              </a:rPr>
              <a:t>6</a:t>
            </a:r>
            <a:r>
              <a:rPr sz="1300" b="0" i="1" dirty="0">
                <a:solidFill>
                  <a:srgbClr val="CFDAF0"/>
                </a:solidFill>
                <a:latin typeface="Calibri"/>
              </a:rPr>
              <a:t> ·  İzmir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164000" y="251999"/>
            <a:ext cx="4860000" cy="1080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6164000" y="306000"/>
            <a:ext cx="4860000" cy="32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300" b="1" i="0">
                <a:solidFill>
                  <a:srgbClr val="0B2A5B"/>
                </a:solidFill>
                <a:latin typeface="Calibri"/>
              </a:rPr>
              <a:t>Proje No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164000" y="612000"/>
            <a:ext cx="4860000" cy="31335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lang="tr-TR" sz="1800" b="1" i="0" dirty="0">
                <a:solidFill>
                  <a:srgbClr val="12182A"/>
                </a:solidFill>
                <a:latin typeface="Calibri"/>
              </a:rPr>
              <a:t>#20250635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164000" y="972000"/>
            <a:ext cx="48600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100" b="0" i="0">
                <a:solidFill>
                  <a:srgbClr val="444C66"/>
                </a:solidFill>
                <a:latin typeface="Calibri"/>
              </a:rPr>
              <a:t>Bilgisayar Mühendisliği · 2025–2026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000" y="1584000"/>
            <a:ext cx="20664000" cy="827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Calibri"/>
              </a:rPr>
              <a:t>IoT Tabanlı Akıllı Ev Sistemi: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00" y="3131999"/>
            <a:ext cx="20664000" cy="36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Emre Akkaya  ·  Ramazan Denli  ·  Boran Bereketli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000" y="3491999"/>
            <a:ext cx="20664000" cy="282573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600" b="0" i="1" dirty="0" err="1">
                <a:solidFill>
                  <a:srgbClr val="CFDAF0"/>
                </a:solidFill>
                <a:latin typeface="Calibri"/>
              </a:rPr>
              <a:t>Danışman</a:t>
            </a:r>
            <a:r>
              <a:rPr sz="1600" b="0" i="1" dirty="0">
                <a:solidFill>
                  <a:srgbClr val="CFDAF0"/>
                </a:solidFill>
                <a:latin typeface="Calibri"/>
              </a:rPr>
              <a:t>:</a:t>
            </a:r>
            <a:r>
              <a:rPr lang="tr-TR" sz="1600" b="0" i="1" dirty="0">
                <a:solidFill>
                  <a:srgbClr val="CFDAF0"/>
                </a:solidFill>
                <a:latin typeface="Calibri"/>
              </a:rPr>
              <a:t> Doç. Dr.</a:t>
            </a:r>
            <a:r>
              <a:rPr sz="1600" b="0" i="1" dirty="0">
                <a:solidFill>
                  <a:srgbClr val="CFDAF0"/>
                </a:solidFill>
                <a:latin typeface="Calibri"/>
              </a:rPr>
              <a:t> </a:t>
            </a:r>
            <a:r>
              <a:rPr sz="1600" b="0" i="1" dirty="0" err="1">
                <a:solidFill>
                  <a:srgbClr val="CFDAF0"/>
                </a:solidFill>
                <a:latin typeface="Calibri"/>
              </a:rPr>
              <a:t>Yunus</a:t>
            </a:r>
            <a:r>
              <a:rPr sz="1600" b="0" i="1" dirty="0">
                <a:solidFill>
                  <a:srgbClr val="CFDAF0"/>
                </a:solidFill>
                <a:latin typeface="Calibri"/>
              </a:rPr>
              <a:t> DOĞAN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4000" y="4248000"/>
            <a:ext cx="10188000" cy="273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CF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24000" y="4248000"/>
            <a:ext cx="10188000" cy="576000"/>
          </a:xfrm>
          <a:prstGeom prst="round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8000" y="4248000"/>
            <a:ext cx="9972000" cy="57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ÖZET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6000" y="4860000"/>
            <a:ext cx="10044000" cy="2088000"/>
          </a:xfrm>
          <a:prstGeom prst="rect">
            <a:avLst/>
          </a:prstGeom>
          <a:noFill/>
        </p:spPr>
        <p:txBody>
          <a:bodyPr wrap="square" lIns="54000" tIns="36000" rIns="54000" bIns="3600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12182A"/>
                </a:solidFill>
                <a:latin typeface="Calibri"/>
              </a:rPr>
              <a:t>Bu çalışmada, geleneksel akıllı ev sistemlerinin reaktif ve sınırlı yapısının ötesine geçen, IoT tabanlı, AI-destekli, duyguya duyarlı bir akıllı ev platformu tasarlanmış ve gerçeklenmiştir.</a:t>
            </a:r>
          </a:p>
          <a:p>
            <a:pPr algn="l">
              <a:lnSpc>
                <a:spcPct val="110000"/>
              </a:lnSpc>
            </a:pPr>
            <a:r>
              <a:rPr sz="600" b="0" i="0">
                <a:solidFill>
                  <a:srgbClr val="12182A"/>
                </a:solidFill>
                <a:latin typeface="Calibri"/>
              </a:rPr>
              <a:t> </a:t>
            </a:r>
          </a:p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12182A"/>
                </a:solidFill>
                <a:latin typeface="Calibri"/>
              </a:rPr>
              <a:t>Sistem; bir Raspberry Pi 5 kenar (edge) düğümü, AWS Cognito + API Gateway + Lambda + IoT Core + RDS üzerinde kurulu sunucusuz bir bulut omurgası, ve Flutter tabanlı çapraz platform mobil uygulamadan oluşur. Yüz ifadesi tabanlı duygu tahmini cihaz üzerinde (Pi) yerel olarak yürütülür; kullanıcı görselleri buluta gönderilmez. Çıkarılan duygu, ışık rengi, perde konumu, ortam müziği ve LLM tabanlı sohbet ajanını eş zamanlı olarak uyarlar.</a:t>
            </a:r>
          </a:p>
          <a:p>
            <a:pPr algn="l">
              <a:lnSpc>
                <a:spcPct val="110000"/>
              </a:lnSpc>
            </a:pPr>
            <a:r>
              <a:rPr sz="600" b="0" i="0">
                <a:solidFill>
                  <a:srgbClr val="12182A"/>
                </a:solidFill>
                <a:latin typeface="Calibri"/>
              </a:rPr>
              <a:t> </a:t>
            </a:r>
          </a:p>
          <a:p>
            <a:pPr algn="l">
              <a:lnSpc>
                <a:spcPct val="110000"/>
              </a:lnSpc>
            </a:pPr>
            <a:r>
              <a:rPr sz="1300" b="0" i="1">
                <a:solidFill>
                  <a:srgbClr val="0B2A5B"/>
                </a:solidFill>
                <a:latin typeface="Calibri"/>
              </a:rPr>
              <a:t>Proje, klasik kural-tabanlı otomasyonu duygusal olarak duyarlı, çok-evli, güvenlik öncelikli bir akıllı ev çerçevesine yükseltmektedir.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4000" y="7164000"/>
            <a:ext cx="10188000" cy="288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CF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324000" y="7164000"/>
            <a:ext cx="10188000" cy="576000"/>
          </a:xfrm>
          <a:prstGeom prst="round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68000" y="7164000"/>
            <a:ext cx="9972000" cy="57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AMAÇ ve KATKILAR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6000" y="7776000"/>
            <a:ext cx="10044000" cy="2232000"/>
          </a:xfrm>
          <a:prstGeom prst="rect">
            <a:avLst/>
          </a:prstGeom>
          <a:noFill/>
        </p:spPr>
        <p:txBody>
          <a:bodyPr wrap="square" lIns="54000" tIns="36000" rIns="54000" bIns="3600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0B2A5B"/>
                </a:solidFill>
                <a:latin typeface="Calibri"/>
              </a:rPr>
              <a:t>Hedef</a:t>
            </a:r>
          </a:p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2182A"/>
                </a:solidFill>
                <a:latin typeface="Calibri"/>
              </a:rPr>
              <a:t>Düşük maliyetli, güvenlik odaklı ve kullanıcının duygusal durumuna otomatik uyum sağlayan bütünsel bir akıllı ev mimarisi geliştirmek.</a:t>
            </a:r>
          </a:p>
          <a:p>
            <a:pPr algn="l">
              <a:lnSpc>
                <a:spcPct val="110000"/>
              </a:lnSpc>
            </a:pPr>
            <a:r>
              <a:rPr sz="600" b="0" i="0">
                <a:solidFill>
                  <a:srgbClr val="12182A"/>
                </a:solidFill>
                <a:latin typeface="Calibri"/>
              </a:rPr>
              <a:t> </a:t>
            </a:r>
          </a:p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0B2A5B"/>
                </a:solidFill>
                <a:latin typeface="Calibri"/>
              </a:rPr>
              <a:t>Özgün Katkılar</a:t>
            </a:r>
          </a:p>
          <a:p>
            <a:pPr marL="228600" indent="-228600" algn="l">
              <a:lnSpc>
                <a:spcPct val="110000"/>
              </a:lnSpc>
              <a:buChar char="•"/>
            </a:pPr>
            <a:r>
              <a:rPr sz="1250" b="0" i="0">
                <a:solidFill>
                  <a:srgbClr val="12182A"/>
                </a:solidFill>
                <a:latin typeface="Calibri"/>
              </a:rPr>
              <a:t>Pi üzerinde çalışan yerel duygu çıkarımı (gizlilik koruyucu)</a:t>
            </a:r>
          </a:p>
          <a:p>
            <a:pPr marL="228600" indent="-228600" algn="l">
              <a:lnSpc>
                <a:spcPct val="110000"/>
              </a:lnSpc>
              <a:buChar char="•"/>
            </a:pPr>
            <a:r>
              <a:rPr sz="1250" b="0" i="0">
                <a:solidFill>
                  <a:srgbClr val="12182A"/>
                </a:solidFill>
                <a:latin typeface="Calibri"/>
              </a:rPr>
              <a:t>10 sınıflı ruh hali ↔ ışık · perde · müzik eşleme matrisi</a:t>
            </a:r>
          </a:p>
          <a:p>
            <a:pPr marL="228600" indent="-228600" algn="l">
              <a:lnSpc>
                <a:spcPct val="110000"/>
              </a:lnSpc>
              <a:buChar char="•"/>
            </a:pPr>
            <a:r>
              <a:rPr sz="1250" b="0" i="0">
                <a:solidFill>
                  <a:srgbClr val="12182A"/>
                </a:solidFill>
                <a:latin typeface="Calibri"/>
              </a:rPr>
              <a:t>Claude Haiku 4.5 ajanı: araç-kullanımı (tool-use) ile doğal dilden cihaz kontrolü ve mood güncelleme</a:t>
            </a:r>
          </a:p>
          <a:p>
            <a:pPr marL="228600" indent="-228600" algn="l">
              <a:lnSpc>
                <a:spcPct val="110000"/>
              </a:lnSpc>
              <a:buChar char="•"/>
            </a:pPr>
            <a:r>
              <a:rPr sz="1250" b="0" i="0">
                <a:solidFill>
                  <a:srgbClr val="12182A"/>
                </a:solidFill>
                <a:latin typeface="Calibri"/>
              </a:rPr>
              <a:t>Spotify Web API’nin 2024 deprecation’ına karşı kişisel-koleksiyon tabanlı mood eşleme algoritması</a:t>
            </a:r>
          </a:p>
          <a:p>
            <a:pPr marL="228600" indent="-228600" algn="l">
              <a:lnSpc>
                <a:spcPct val="110000"/>
              </a:lnSpc>
              <a:buChar char="•"/>
            </a:pPr>
            <a:r>
              <a:rPr sz="1250" b="0" i="0">
                <a:solidFill>
                  <a:srgbClr val="12182A"/>
                </a:solidFill>
                <a:latin typeface="Calibri"/>
              </a:rPr>
              <a:t>Sismik aktivite, gaz kaçağı ve yetkisiz erişim için RFID + MQTT olay-tabanlı erken uyarı zinciri</a:t>
            </a:r>
          </a:p>
          <a:p>
            <a:pPr marL="228600" indent="-228600" algn="l">
              <a:lnSpc>
                <a:spcPct val="110000"/>
              </a:lnSpc>
              <a:buChar char="•"/>
            </a:pPr>
            <a:r>
              <a:rPr sz="1250" b="0" i="0">
                <a:solidFill>
                  <a:srgbClr val="12182A"/>
                </a:solidFill>
                <a:latin typeface="Calibri"/>
              </a:rPr>
              <a:t>Çok-evli (multi-home) QR davet akışı + Cognito bazlı kullanıcı/rol ayrımı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4000" y="10224000"/>
            <a:ext cx="10188000" cy="558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CF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324000" y="10224000"/>
            <a:ext cx="10188000" cy="576000"/>
          </a:xfrm>
          <a:prstGeom prst="round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68000" y="10224000"/>
            <a:ext cx="10188000" cy="57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SİSTEM MİMARİSİ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888000" y="10944000"/>
            <a:ext cx="3060000" cy="720000"/>
          </a:xfrm>
          <a:prstGeom prst="round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888000" y="10944000"/>
            <a:ext cx="3060000" cy="720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📱  Flutter Mobil Uygulama
(iOS · Android)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0000" y="11988000"/>
            <a:ext cx="2371500" cy="900000"/>
          </a:xfrm>
          <a:prstGeom prst="round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40000" y="11988000"/>
            <a:ext cx="2371500" cy="900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250" b="1" i="0">
                <a:solidFill>
                  <a:srgbClr val="12182A"/>
                </a:solidFill>
                <a:latin typeface="Calibri"/>
              </a:rPr>
              <a:t>AWS
Cognito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001500" y="11988000"/>
            <a:ext cx="2371500" cy="900000"/>
          </a:xfrm>
          <a:prstGeom prst="round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001500" y="11988000"/>
            <a:ext cx="2371500" cy="900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250" b="1" i="0">
                <a:solidFill>
                  <a:srgbClr val="12182A"/>
                </a:solidFill>
                <a:latin typeface="Calibri"/>
              </a:rPr>
              <a:t>API Gateway
+ Lambda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63000" y="11988000"/>
            <a:ext cx="2371500" cy="900000"/>
          </a:xfrm>
          <a:prstGeom prst="round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463000" y="11988000"/>
            <a:ext cx="2371500" cy="900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250" b="1" i="0">
                <a:solidFill>
                  <a:srgbClr val="12182A"/>
                </a:solidFill>
                <a:latin typeface="Calibri"/>
              </a:rPr>
              <a:t>IoT Core
(MQTT)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924500" y="11988000"/>
            <a:ext cx="2371500" cy="900000"/>
          </a:xfrm>
          <a:prstGeom prst="round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924500" y="11988000"/>
            <a:ext cx="2371500" cy="900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250" b="1" i="0">
                <a:solidFill>
                  <a:srgbClr val="12182A"/>
                </a:solidFill>
                <a:latin typeface="Calibri"/>
              </a:rPr>
              <a:t>RDS
PostgreSQL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0000" y="13139999"/>
            <a:ext cx="2371500" cy="720000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40000" y="13139999"/>
            <a:ext cx="2371500" cy="720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Anthropic
Claude Haiku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001500" y="13139999"/>
            <a:ext cx="2371500" cy="720000"/>
          </a:xfrm>
          <a:prstGeom prst="roundRect">
            <a:avLst/>
          </a:prstGeom>
          <a:solidFill>
            <a:srgbClr val="1DB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001500" y="13139999"/>
            <a:ext cx="2371500" cy="720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Spotify
Web API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63000" y="13139999"/>
            <a:ext cx="2371500" cy="720000"/>
          </a:xfrm>
          <a:prstGeom prst="roundRect">
            <a:avLst/>
          </a:prstGeom>
          <a:solidFill>
            <a:srgbClr val="FFC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463000" y="13139999"/>
            <a:ext cx="2371500" cy="720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250" b="1" i="0">
                <a:solidFill>
                  <a:srgbClr val="12182A"/>
                </a:solidFill>
                <a:latin typeface="Calibri"/>
              </a:rPr>
              <a:t>Firebase
FCM Push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924500" y="13139999"/>
            <a:ext cx="2371500" cy="720000"/>
          </a:xfrm>
          <a:prstGeom prst="roundRect">
            <a:avLst/>
          </a:prstGeom>
          <a:solidFill>
            <a:srgbClr val="0F8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924500" y="13139999"/>
            <a:ext cx="2371500" cy="720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Pi /predict
(local)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0000" y="14111998"/>
            <a:ext cx="9756000" cy="936000"/>
          </a:xfrm>
          <a:prstGeom prst="roundRect">
            <a:avLst/>
          </a:prstGeom>
          <a:solidFill>
            <a:srgbClr val="07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40000" y="14111998"/>
            <a:ext cx="9756000" cy="93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🏠  Raspberry Pi 5  ·  paho-mqtt  ·  FastAPI  ·  Keras Emotion CNN  ·  GPIO Sürücüleri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40000" y="15227998"/>
            <a:ext cx="1572000" cy="756000"/>
          </a:xfrm>
          <a:prstGeom prst="roundRect">
            <a:avLst/>
          </a:prstGeom>
          <a:solidFill>
            <a:srgbClr val="CDE6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40000" y="15227998"/>
            <a:ext cx="1572000" cy="75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100" b="1" i="0">
                <a:solidFill>
                  <a:srgbClr val="12182A"/>
                </a:solidFill>
                <a:latin typeface="Calibri"/>
              </a:rPr>
              <a:t>DHT11
Sıc/Nem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176800" y="15227998"/>
            <a:ext cx="1572000" cy="756000"/>
          </a:xfrm>
          <a:prstGeom prst="roundRect">
            <a:avLst/>
          </a:prstGeom>
          <a:solidFill>
            <a:srgbClr val="CDE6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176800" y="15227998"/>
            <a:ext cx="1572000" cy="75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100" b="1" i="0">
                <a:solidFill>
                  <a:srgbClr val="12182A"/>
                </a:solidFill>
                <a:latin typeface="Calibri"/>
              </a:rPr>
              <a:t>MQ-3/MQ-4
Gaz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813600" y="15227998"/>
            <a:ext cx="1572000" cy="756000"/>
          </a:xfrm>
          <a:prstGeom prst="roundRect">
            <a:avLst/>
          </a:prstGeom>
          <a:solidFill>
            <a:srgbClr val="CDE6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813600" y="15227998"/>
            <a:ext cx="1572000" cy="75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100" b="1" i="0">
                <a:solidFill>
                  <a:srgbClr val="12182A"/>
                </a:solidFill>
                <a:latin typeface="Calibri"/>
              </a:rPr>
              <a:t>MPU6050
Titreşim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450400" y="15227998"/>
            <a:ext cx="1572000" cy="756000"/>
          </a:xfrm>
          <a:prstGeom prst="roundRect">
            <a:avLst/>
          </a:prstGeom>
          <a:solidFill>
            <a:srgbClr val="CDE6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450400" y="15227998"/>
            <a:ext cx="1572000" cy="75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100" b="1" i="0">
                <a:solidFill>
                  <a:srgbClr val="12182A"/>
                </a:solidFill>
                <a:latin typeface="Calibri"/>
              </a:rPr>
              <a:t>LDR
Işık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087200" y="15227998"/>
            <a:ext cx="1572000" cy="756000"/>
          </a:xfrm>
          <a:prstGeom prst="roundRect">
            <a:avLst/>
          </a:prstGeom>
          <a:solidFill>
            <a:srgbClr val="CDE6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087200" y="15227998"/>
            <a:ext cx="1572000" cy="75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100" b="1" i="0">
                <a:solidFill>
                  <a:srgbClr val="12182A"/>
                </a:solidFill>
                <a:latin typeface="Calibri"/>
              </a:rPr>
              <a:t>RC522
RFID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724000" y="15227998"/>
            <a:ext cx="1572000" cy="756000"/>
          </a:xfrm>
          <a:prstGeom prst="roundRect">
            <a:avLst/>
          </a:prstGeom>
          <a:solidFill>
            <a:srgbClr val="CDE6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724000" y="15227998"/>
            <a:ext cx="1572000" cy="75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100" b="1" i="0">
                <a:solidFill>
                  <a:srgbClr val="12182A"/>
                </a:solidFill>
                <a:latin typeface="Calibri"/>
              </a:rPr>
              <a:t>USB
Kamera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40000" y="16073998"/>
            <a:ext cx="97560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050" b="0" i="1">
                <a:solidFill>
                  <a:srgbClr val="444C66"/>
                </a:solidFill>
                <a:latin typeface="Calibri"/>
              </a:rPr>
              <a:t>▲  Komut akışı: App → API GW → Lambda → IoT Core (MQTT, TLS 1.2) → Pi.   Veri akışı: Sensör → Pi → MQTT → Lambda → RDS → App.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24000" y="15984000"/>
            <a:ext cx="10188000" cy="414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CF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324000" y="15984000"/>
            <a:ext cx="10188000" cy="576000"/>
          </a:xfrm>
          <a:prstGeom prst="round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68000" y="15984000"/>
            <a:ext cx="10188000" cy="57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DONANIM ve KENAR DÜĞÜM</a:t>
            </a:r>
          </a:p>
        </p:txBody>
      </p:sp>
      <p:pic>
        <p:nvPicPr>
          <p:cNvPr id="63" name="Picture 62" descr="fig_5_16_pi_wi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16704000"/>
            <a:ext cx="9756000" cy="2592000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468000" y="19368000"/>
            <a:ext cx="9900000" cy="720000"/>
          </a:xfrm>
          <a:prstGeom prst="rect">
            <a:avLst/>
          </a:prstGeom>
          <a:noFill/>
        </p:spPr>
        <p:txBody>
          <a:bodyPr wrap="square" lIns="54000" tIns="36000" rIns="54000" bIns="3600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444C66"/>
                </a:solidFill>
                <a:latin typeface="Calibri"/>
              </a:rPr>
              <a:t>GPIO 4 — DHT11   ·   GPIO 17 — MQ-3/4   ·   GPIO 18/13/19 — RGB LED PWM   ·   GPIO 5/6/12/16 — Perde Step</a:t>
            </a:r>
          </a:p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444C66"/>
                </a:solidFill>
                <a:latin typeface="Calibri"/>
              </a:rPr>
              <a:t>GPIO 22/23 — AC/Fırın Röle   ·   GPIO 26 — Hoparlör PWM   ·   GPIO 24 — Güvenlik Sireni   ·   I²C — MPU6050   ·   SPI — RC522</a:t>
            </a:r>
          </a:p>
          <a:p>
            <a:pPr algn="l">
              <a:lnSpc>
                <a:spcPct val="110000"/>
              </a:lnSpc>
            </a:pPr>
            <a:r>
              <a:rPr sz="1200" b="0" i="1">
                <a:solidFill>
                  <a:srgbClr val="0B2A5B"/>
                </a:solidFill>
                <a:latin typeface="Calibri"/>
              </a:rPr>
              <a:t>Pi 5 üzerinde paho-mqtt istemcisi, FastAPI /predict servisi ve donanım sürücüleri tek bir systemd servisinde birleştirilmiştir.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24000" y="20304000"/>
            <a:ext cx="10188000" cy="396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CF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ounded Rectangle 65"/>
          <p:cNvSpPr/>
          <p:nvPr/>
        </p:nvSpPr>
        <p:spPr>
          <a:xfrm>
            <a:off x="324000" y="20304000"/>
            <a:ext cx="10188000" cy="576000"/>
          </a:xfrm>
          <a:prstGeom prst="round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468000" y="20304000"/>
            <a:ext cx="9972000" cy="57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GÜVENLİK ve ERKEN UYARI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96000" y="20916000"/>
            <a:ext cx="10044000" cy="3312000"/>
          </a:xfrm>
          <a:prstGeom prst="rect">
            <a:avLst/>
          </a:prstGeom>
          <a:noFill/>
        </p:spPr>
        <p:txBody>
          <a:bodyPr wrap="square" lIns="54000" tIns="36000" rIns="54000" bIns="3600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2182A"/>
                </a:solidFill>
                <a:latin typeface="Calibri"/>
              </a:rPr>
              <a:t>Sistem, klasik «hareket dedektörlü kamera» yaklaşımının ötesine geçen, çok-katmanlı bir güvenlik altyapısıyla donatılmıştır. Olaylar Pi üzerinde yerel olarak yorumlanır ve MQTT üzerinden bulut zincirine, oradan da kullanıcıya FCM push olarak iletilir.</a:t>
            </a:r>
          </a:p>
          <a:p>
            <a:pPr algn="l">
              <a:lnSpc>
                <a:spcPct val="110000"/>
              </a:lnSpc>
            </a:pPr>
            <a:r>
              <a:rPr sz="600" b="0" i="0">
                <a:solidFill>
                  <a:srgbClr val="12182A"/>
                </a:solidFill>
                <a:latin typeface="Calibri"/>
              </a:rPr>
              <a:t> </a:t>
            </a:r>
          </a:p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0B2A5B"/>
                </a:solidFill>
                <a:latin typeface="Calibri"/>
              </a:rPr>
              <a:t>Tehlike Sınıfları</a:t>
            </a:r>
          </a:p>
          <a:p>
            <a:pPr marL="228600" indent="-228600" algn="l">
              <a:lnSpc>
                <a:spcPct val="110000"/>
              </a:lnSpc>
              <a:buChar char="•"/>
            </a:pPr>
            <a:r>
              <a:rPr sz="1200" b="0" i="0">
                <a:solidFill>
                  <a:srgbClr val="12182A"/>
                </a:solidFill>
                <a:latin typeface="Calibri"/>
              </a:rPr>
              <a:t>Gaz Kaçağı (MQ-3 / MQ-4): kalibre edilmiş eşik aşıldığında siren + havalandırma + push (kritik)</a:t>
            </a:r>
          </a:p>
          <a:p>
            <a:pPr marL="228600" indent="-228600" algn="l">
              <a:lnSpc>
                <a:spcPct val="110000"/>
              </a:lnSpc>
              <a:buChar char="•"/>
            </a:pPr>
            <a:r>
              <a:rPr sz="1200" b="0" i="0">
                <a:solidFill>
                  <a:srgbClr val="12182A"/>
                </a:solidFill>
                <a:latin typeface="Calibri"/>
              </a:rPr>
              <a:t>Sismik Aktivite (MPU6050): hareketli pencere üzerinden RMS ivme; bina-tipi eşik ile yanlış-pozitif filtresi</a:t>
            </a:r>
          </a:p>
          <a:p>
            <a:pPr marL="228600" indent="-228600" algn="l">
              <a:lnSpc>
                <a:spcPct val="110000"/>
              </a:lnSpc>
              <a:buChar char="•"/>
            </a:pPr>
            <a:r>
              <a:rPr sz="1200" b="0" i="0">
                <a:solidFill>
                  <a:srgbClr val="12182A"/>
                </a:solidFill>
                <a:latin typeface="Calibri"/>
              </a:rPr>
              <a:t>Yetkisiz Erişim (RC522 RFID): kart ID Cognito kullanıcısına bağlanır, kara liste ve sahte-kart yakalama</a:t>
            </a:r>
          </a:p>
          <a:p>
            <a:pPr marL="228600" indent="-228600" algn="l">
              <a:lnSpc>
                <a:spcPct val="110000"/>
              </a:lnSpc>
              <a:buChar char="•"/>
            </a:pPr>
            <a:r>
              <a:rPr sz="1200" b="0" i="0">
                <a:solidFill>
                  <a:srgbClr val="12182A"/>
                </a:solidFill>
                <a:latin typeface="Calibri"/>
              </a:rPr>
              <a:t>Anormal Sıcaklık / Nem: özelleştirilebilir kural motoru ile fırın / klima otomatik kapama</a:t>
            </a:r>
          </a:p>
          <a:p>
            <a:pPr algn="l">
              <a:lnSpc>
                <a:spcPct val="110000"/>
              </a:lnSpc>
            </a:pPr>
            <a:r>
              <a:rPr sz="600" b="0" i="0">
                <a:solidFill>
                  <a:srgbClr val="12182A"/>
                </a:solidFill>
                <a:latin typeface="Calibri"/>
              </a:rPr>
              <a:t> </a:t>
            </a:r>
          </a:p>
          <a:p>
            <a:pPr algn="l">
              <a:lnSpc>
                <a:spcPct val="110000"/>
              </a:lnSpc>
            </a:pPr>
            <a:r>
              <a:rPr sz="1200" b="0" i="1">
                <a:solidFill>
                  <a:srgbClr val="444C66"/>
                </a:solidFill>
                <a:latin typeface="Calibri"/>
              </a:rPr>
              <a:t>Bildirim seviyeleri: critical · warning · info. Kritik uyarılar ön plan modal diyaloğu açar ve persistent alert listesine eklenir.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324000" y="24444000"/>
            <a:ext cx="10188000" cy="306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CF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ounded Rectangle 69"/>
          <p:cNvSpPr/>
          <p:nvPr/>
        </p:nvSpPr>
        <p:spPr>
          <a:xfrm>
            <a:off x="324000" y="24444000"/>
            <a:ext cx="10188000" cy="576000"/>
          </a:xfrm>
          <a:prstGeom prst="round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468000" y="24444000"/>
            <a:ext cx="10188000" cy="57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TEKNOLOJİ YIĞINI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68000" y="25164000"/>
            <a:ext cx="3216000" cy="360000"/>
          </a:xfrm>
          <a:prstGeom prst="round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468000" y="25164000"/>
            <a:ext cx="3216000" cy="360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FRONTEND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540000" y="25596000"/>
            <a:ext cx="3072000" cy="2340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540000" y="25596000"/>
            <a:ext cx="3072000" cy="234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1050" b="0" i="0">
                <a:solidFill>
                  <a:srgbClr val="12182A"/>
                </a:solidFill>
                <a:latin typeface="Calibri"/>
              </a:rPr>
              <a:t>•  Flutter 3.38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540000" y="25866000"/>
            <a:ext cx="3072000" cy="2340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540000" y="25866000"/>
            <a:ext cx="3072000" cy="234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1050" b="0" i="0">
                <a:solidFill>
                  <a:srgbClr val="12182A"/>
                </a:solidFill>
                <a:latin typeface="Calibri"/>
              </a:rPr>
              <a:t>•  Dart 3.10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540000" y="26136000"/>
            <a:ext cx="3072000" cy="2340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540000" y="26136000"/>
            <a:ext cx="3072000" cy="234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1050" b="0" i="0">
                <a:solidFill>
                  <a:srgbClr val="12182A"/>
                </a:solidFill>
                <a:latin typeface="Calibri"/>
              </a:rPr>
              <a:t>•  Riverpod 3.x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540000" y="26406000"/>
            <a:ext cx="3072000" cy="2340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540000" y="26406000"/>
            <a:ext cx="3072000" cy="234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1050" b="0" i="0">
                <a:solidFill>
                  <a:srgbClr val="12182A"/>
                </a:solidFill>
                <a:latin typeface="Calibri"/>
              </a:rPr>
              <a:t>•  Amplify Flutter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540000" y="26676000"/>
            <a:ext cx="3072000" cy="2340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540000" y="26676000"/>
            <a:ext cx="3072000" cy="234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1050" b="0" i="0">
                <a:solidFill>
                  <a:srgbClr val="12182A"/>
                </a:solidFill>
                <a:latin typeface="Calibri"/>
              </a:rPr>
              <a:t>•  FCM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540000" y="26946000"/>
            <a:ext cx="3072000" cy="2340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540000" y="26946000"/>
            <a:ext cx="3072000" cy="234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1050" b="0" i="0">
                <a:solidFill>
                  <a:srgbClr val="12182A"/>
                </a:solidFill>
                <a:latin typeface="Calibri"/>
              </a:rPr>
              <a:t>•  Web Auth 2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3809999" y="25164000"/>
            <a:ext cx="3216000" cy="360000"/>
          </a:xfrm>
          <a:prstGeom prst="roundRect">
            <a:avLst/>
          </a:prstGeom>
          <a:solidFill>
            <a:srgbClr val="E36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3809999" y="25164000"/>
            <a:ext cx="3216000" cy="360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BACKEND / CLOUD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3881999" y="25596000"/>
            <a:ext cx="3072000" cy="2340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3881999" y="25596000"/>
            <a:ext cx="3072000" cy="234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1050" b="0" i="0">
                <a:solidFill>
                  <a:srgbClr val="12182A"/>
                </a:solidFill>
                <a:latin typeface="Calibri"/>
              </a:rPr>
              <a:t>•  AWS Cognito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3881999" y="25866000"/>
            <a:ext cx="3072000" cy="2340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3881999" y="25866000"/>
            <a:ext cx="3072000" cy="234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1050" b="0" i="0">
                <a:solidFill>
                  <a:srgbClr val="12182A"/>
                </a:solidFill>
                <a:latin typeface="Calibri"/>
              </a:rPr>
              <a:t>•  API Gateway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3881999" y="26136000"/>
            <a:ext cx="3072000" cy="2340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3881999" y="26136000"/>
            <a:ext cx="3072000" cy="234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1050" b="0" i="0">
                <a:solidFill>
                  <a:srgbClr val="12182A"/>
                </a:solidFill>
                <a:latin typeface="Calibri"/>
              </a:rPr>
              <a:t>•  AWS Lambda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3881999" y="26406000"/>
            <a:ext cx="3072000" cy="2340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3881999" y="26406000"/>
            <a:ext cx="3072000" cy="234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1050" b="0" i="0">
                <a:solidFill>
                  <a:srgbClr val="12182A"/>
                </a:solidFill>
                <a:latin typeface="Calibri"/>
              </a:rPr>
              <a:t>•  IoT Core (MQTT)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3881999" y="26676000"/>
            <a:ext cx="3072000" cy="2340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3881999" y="26676000"/>
            <a:ext cx="3072000" cy="234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1050" b="0" i="0">
                <a:solidFill>
                  <a:srgbClr val="12182A"/>
                </a:solidFill>
                <a:latin typeface="Calibri"/>
              </a:rPr>
              <a:t>•  RDS PostgreSQL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3881999" y="26946000"/>
            <a:ext cx="3072000" cy="2340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3881999" y="26946000"/>
            <a:ext cx="3072000" cy="234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1050" b="0" i="0">
                <a:solidFill>
                  <a:srgbClr val="12182A"/>
                </a:solidFill>
                <a:latin typeface="Calibri"/>
              </a:rPr>
              <a:t>•  Firebase FCM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7151998" y="25164000"/>
            <a:ext cx="3216000" cy="360000"/>
          </a:xfrm>
          <a:prstGeom prst="roundRect">
            <a:avLst/>
          </a:prstGeom>
          <a:solidFill>
            <a:srgbClr val="0F8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7151998" y="25164000"/>
            <a:ext cx="3216000" cy="360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EDGE / AI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7223998" y="25596000"/>
            <a:ext cx="3072000" cy="2340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7223998" y="25596000"/>
            <a:ext cx="3072000" cy="234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1050" b="0" i="0">
                <a:solidFill>
                  <a:srgbClr val="12182A"/>
                </a:solidFill>
                <a:latin typeface="Calibri"/>
              </a:rPr>
              <a:t>•  Raspberry Pi 5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7223998" y="25866000"/>
            <a:ext cx="3072000" cy="2340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7223998" y="25866000"/>
            <a:ext cx="3072000" cy="234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1050" b="0" i="0">
                <a:solidFill>
                  <a:srgbClr val="12182A"/>
                </a:solidFill>
                <a:latin typeface="Calibri"/>
              </a:rPr>
              <a:t>•  FastAPI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7223998" y="26136000"/>
            <a:ext cx="3072000" cy="2340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7223998" y="26136000"/>
            <a:ext cx="3072000" cy="234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1050" b="0" i="0">
                <a:solidFill>
                  <a:srgbClr val="12182A"/>
                </a:solidFill>
                <a:latin typeface="Calibri"/>
              </a:rPr>
              <a:t>•  paho-mqtt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7223998" y="26406000"/>
            <a:ext cx="3072000" cy="2340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7223998" y="26406000"/>
            <a:ext cx="3072000" cy="234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1050" b="0" i="0">
                <a:solidFill>
                  <a:srgbClr val="12182A"/>
                </a:solidFill>
                <a:latin typeface="Calibri"/>
              </a:rPr>
              <a:t>•  Keras / TF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7223998" y="26676000"/>
            <a:ext cx="3072000" cy="2340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7223998" y="26676000"/>
            <a:ext cx="3072000" cy="234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1050" b="0" i="0">
                <a:solidFill>
                  <a:srgbClr val="12182A"/>
                </a:solidFill>
                <a:latin typeface="Calibri"/>
              </a:rPr>
              <a:t>•  Claude Haiku 4.5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7223998" y="26946000"/>
            <a:ext cx="3072000" cy="2340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7223998" y="26946000"/>
            <a:ext cx="3072000" cy="234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1050" b="0" i="0">
                <a:solidFill>
                  <a:srgbClr val="12182A"/>
                </a:solidFill>
                <a:latin typeface="Calibri"/>
              </a:rPr>
              <a:t>•  Spotify Web API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10872000" y="4248000"/>
            <a:ext cx="10188000" cy="414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CF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Rounded Rectangle 114"/>
          <p:cNvSpPr/>
          <p:nvPr/>
        </p:nvSpPr>
        <p:spPr>
          <a:xfrm>
            <a:off x="10872000" y="4248000"/>
            <a:ext cx="10188000" cy="576000"/>
          </a:xfrm>
          <a:prstGeom prst="roundRect">
            <a:avLst/>
          </a:prstGeom>
          <a:solidFill>
            <a:srgbClr val="E36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11016000" y="4248000"/>
            <a:ext cx="9972000" cy="57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AI · DUYGU TANIMA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944000" y="4860000"/>
            <a:ext cx="10044000" cy="3492000"/>
          </a:xfrm>
          <a:prstGeom prst="rect">
            <a:avLst/>
          </a:prstGeom>
          <a:noFill/>
        </p:spPr>
        <p:txBody>
          <a:bodyPr wrap="square" lIns="54000" tIns="36000" rIns="54000" bIns="3600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2182A"/>
                </a:solidFill>
                <a:latin typeface="Calibri"/>
              </a:rPr>
              <a:t>Kullanıcı «Tara» butonuna bastığında ön kameradan bir kare alınır ve multipart/JPEG olarak Raspberry Pi üzerindeki FastAPI /predict uç noktasına gönderilir. Pi üzerindeki Keras tabanlı CNN modeli yüz bölgesini tespit eder ve 10 sınıflı softmax çıktısı üretir.</a:t>
            </a:r>
          </a:p>
          <a:p>
            <a:pPr algn="l">
              <a:lnSpc>
                <a:spcPct val="110000"/>
              </a:lnSpc>
            </a:pPr>
            <a:r>
              <a:rPr sz="600" b="0" i="0">
                <a:solidFill>
                  <a:srgbClr val="12182A"/>
                </a:solidFill>
                <a:latin typeface="Calibri"/>
              </a:rPr>
              <a:t> </a:t>
            </a:r>
          </a:p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0B2A5B"/>
                </a:solidFill>
                <a:latin typeface="Calibri"/>
              </a:rPr>
              <a:t>Sınıflar:</a:t>
            </a:r>
          </a:p>
          <a:p>
            <a:pPr algn="l">
              <a:lnSpc>
                <a:spcPct val="110000"/>
              </a:lnSpc>
            </a:pPr>
            <a:r>
              <a:rPr sz="1200" b="0" i="1">
                <a:solidFill>
                  <a:srgbClr val="12182A"/>
                </a:solidFill>
                <a:latin typeface="Calibri"/>
              </a:rPr>
              <a:t>happy · sad · calm · angry · neutral · surprise · fear · disgust · romantic · energetic</a:t>
            </a:r>
          </a:p>
          <a:p>
            <a:pPr algn="l">
              <a:lnSpc>
                <a:spcPct val="110000"/>
              </a:lnSpc>
            </a:pPr>
            <a:r>
              <a:rPr sz="600" b="0" i="0">
                <a:solidFill>
                  <a:srgbClr val="12182A"/>
                </a:solidFill>
                <a:latin typeface="Calibri"/>
              </a:rPr>
              <a:t> </a:t>
            </a:r>
          </a:p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2182A"/>
                </a:solidFill>
                <a:latin typeface="Calibri"/>
              </a:rPr>
              <a:t>Yanıt formatı: { emotion, confidence, all_scores }. Görsel asla buluta gönderilmez — gizlilik için tüm çıkarım LAN üzerinde yerel olarak yürütülür. Self-signed sertifika yalnızca kDebugMode altında bypass edilir.</a:t>
            </a:r>
          </a:p>
          <a:p>
            <a:pPr algn="l">
              <a:lnSpc>
                <a:spcPct val="110000"/>
              </a:lnSpc>
            </a:pPr>
            <a:r>
              <a:rPr sz="600" b="0" i="0">
                <a:solidFill>
                  <a:srgbClr val="12182A"/>
                </a:solidFill>
                <a:latin typeface="Calibri"/>
              </a:rPr>
              <a:t> </a:t>
            </a:r>
          </a:p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0B2A5B"/>
                </a:solidFill>
                <a:latin typeface="Calibri"/>
              </a:rPr>
              <a:t>Kalibrasyon</a:t>
            </a:r>
          </a:p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2182A"/>
                </a:solidFill>
                <a:latin typeface="Calibri"/>
              </a:rPr>
              <a:t>Düşük güven (&lt; 0.55) durumunda kullanıcıya Manuel Mood Picker (10 ruh hali) önerilir; yanlış sınıflandırma sohbet ajanına doğal dille bildirilebilir («ben aslında üzgünüm» → set_mood(sad)).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10872000" y="8568000"/>
            <a:ext cx="10188000" cy="3024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CF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Rounded Rectangle 118"/>
          <p:cNvSpPr/>
          <p:nvPr/>
        </p:nvSpPr>
        <p:spPr>
          <a:xfrm>
            <a:off x="10872000" y="8568000"/>
            <a:ext cx="10188000" cy="576000"/>
          </a:xfrm>
          <a:prstGeom prst="roundRect">
            <a:avLst/>
          </a:prstGeom>
          <a:solidFill>
            <a:srgbClr val="E36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11016000" y="8568000"/>
            <a:ext cx="10188000" cy="57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MOOD ↔ ORTAM EŞLEME MATRİSİ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1052000" y="9288000"/>
            <a:ext cx="9828000" cy="259200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11052000" y="9288000"/>
            <a:ext cx="1591578" cy="2592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Mood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2643578" y="9288000"/>
            <a:ext cx="2984210" cy="2592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Işık (Renk · Yoğunluk)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5627788" y="9288000"/>
            <a:ext cx="2188421" cy="2592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Perde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7816209" y="9288000"/>
            <a:ext cx="3063789" cy="2592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Müzik Tarzı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11052000" y="9547200"/>
            <a:ext cx="9828000" cy="259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Rounded Rectangle 126"/>
          <p:cNvSpPr/>
          <p:nvPr/>
        </p:nvSpPr>
        <p:spPr>
          <a:xfrm>
            <a:off x="11124000" y="9583200"/>
            <a:ext cx="1447578" cy="187200"/>
          </a:xfrm>
          <a:prstGeom prst="round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11052000" y="9547200"/>
            <a:ext cx="1591578" cy="2592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Happy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2643578" y="9547200"/>
            <a:ext cx="2984210" cy="2592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100" b="0" i="0">
                <a:solidFill>
                  <a:srgbClr val="12182A"/>
                </a:solidFill>
                <a:latin typeface="Calibri"/>
              </a:rPr>
              <a:t>Sıcak Sarı 80%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5627788" y="9547200"/>
            <a:ext cx="2188421" cy="2592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100" b="0" i="0">
                <a:solidFill>
                  <a:srgbClr val="12182A"/>
                </a:solidFill>
                <a:latin typeface="Calibri"/>
              </a:rPr>
              <a:t>Yarı Açık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7816209" y="9547200"/>
            <a:ext cx="3063789" cy="2592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100" b="0" i="0">
                <a:solidFill>
                  <a:srgbClr val="12182A"/>
                </a:solidFill>
                <a:latin typeface="Calibri"/>
              </a:rPr>
              <a:t>Pop · Dans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11052000" y="9806400"/>
            <a:ext cx="9828000" cy="2592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Rounded Rectangle 132"/>
          <p:cNvSpPr/>
          <p:nvPr/>
        </p:nvSpPr>
        <p:spPr>
          <a:xfrm>
            <a:off x="11124000" y="9842400"/>
            <a:ext cx="1447578" cy="187200"/>
          </a:xfrm>
          <a:prstGeom prst="roundRect">
            <a:avLst/>
          </a:prstGeom>
          <a:solidFill>
            <a:srgbClr val="4273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11052000" y="9806400"/>
            <a:ext cx="1591578" cy="2592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Sad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2643578" y="9806400"/>
            <a:ext cx="2984210" cy="2592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100" b="0" i="0">
                <a:solidFill>
                  <a:srgbClr val="12182A"/>
                </a:solidFill>
                <a:latin typeface="Calibri"/>
              </a:rPr>
              <a:t>Soft Mavi 35%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5627788" y="9806400"/>
            <a:ext cx="2188421" cy="2592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100" b="0" i="0">
                <a:solidFill>
                  <a:srgbClr val="12182A"/>
                </a:solidFill>
                <a:latin typeface="Calibri"/>
              </a:rPr>
              <a:t>Kapalı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7816209" y="9806400"/>
            <a:ext cx="3063789" cy="2592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100" b="0" i="0">
                <a:solidFill>
                  <a:srgbClr val="12182A"/>
                </a:solidFill>
                <a:latin typeface="Calibri"/>
              </a:rPr>
              <a:t>Akustik · Türk Sanat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11052000" y="10065600"/>
            <a:ext cx="9828000" cy="259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Rounded Rectangle 138"/>
          <p:cNvSpPr/>
          <p:nvPr/>
        </p:nvSpPr>
        <p:spPr>
          <a:xfrm>
            <a:off x="11124000" y="10101600"/>
            <a:ext cx="1447578" cy="187200"/>
          </a:xfrm>
          <a:prstGeom prst="roundRect">
            <a:avLst/>
          </a:prstGeom>
          <a:solidFill>
            <a:srgbClr val="4DB6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11052000" y="10065600"/>
            <a:ext cx="1591578" cy="2592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Calm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2643578" y="10065600"/>
            <a:ext cx="2984210" cy="2592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100" b="0" i="0">
                <a:solidFill>
                  <a:srgbClr val="12182A"/>
                </a:solidFill>
                <a:latin typeface="Calibri"/>
              </a:rPr>
              <a:t>Pastel Yeşil 50%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5627788" y="10065600"/>
            <a:ext cx="2188421" cy="2592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100" b="0" i="0">
                <a:solidFill>
                  <a:srgbClr val="12182A"/>
                </a:solidFill>
                <a:latin typeface="Calibri"/>
              </a:rPr>
              <a:t>Yarı Açık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7816209" y="10065600"/>
            <a:ext cx="3063789" cy="2592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100" b="0" i="0">
                <a:solidFill>
                  <a:srgbClr val="12182A"/>
                </a:solidFill>
                <a:latin typeface="Calibri"/>
              </a:rPr>
              <a:t>Ambient · Lo-fi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11052000" y="10324800"/>
            <a:ext cx="9828000" cy="2592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Rounded Rectangle 144"/>
          <p:cNvSpPr/>
          <p:nvPr/>
        </p:nvSpPr>
        <p:spPr>
          <a:xfrm>
            <a:off x="11124000" y="10360800"/>
            <a:ext cx="1447578" cy="187200"/>
          </a:xfrm>
          <a:prstGeom prst="round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11052000" y="10324800"/>
            <a:ext cx="1591578" cy="2592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Angry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2643578" y="10324800"/>
            <a:ext cx="2984210" cy="2592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100" b="0" i="0">
                <a:solidFill>
                  <a:srgbClr val="12182A"/>
                </a:solidFill>
                <a:latin typeface="Calibri"/>
              </a:rPr>
              <a:t>Kırmızı 70%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5627788" y="10324800"/>
            <a:ext cx="2188421" cy="2592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100" b="0" i="0">
                <a:solidFill>
                  <a:srgbClr val="12182A"/>
                </a:solidFill>
                <a:latin typeface="Calibri"/>
              </a:rPr>
              <a:t>Açık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7816209" y="10324800"/>
            <a:ext cx="3063789" cy="2592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100" b="0" i="0">
                <a:solidFill>
                  <a:srgbClr val="12182A"/>
                </a:solidFill>
                <a:latin typeface="Calibri"/>
              </a:rPr>
              <a:t>Sakin · Klasik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11052000" y="10584000"/>
            <a:ext cx="9828000" cy="259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Rounded Rectangle 150"/>
          <p:cNvSpPr/>
          <p:nvPr/>
        </p:nvSpPr>
        <p:spPr>
          <a:xfrm>
            <a:off x="11124000" y="10620000"/>
            <a:ext cx="1447578" cy="187200"/>
          </a:xfrm>
          <a:prstGeom prst="roundRect">
            <a:avLst/>
          </a:prstGeom>
          <a:solidFill>
            <a:srgbClr val="9E9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11052000" y="10584000"/>
            <a:ext cx="1591578" cy="2592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Neutral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2643578" y="10584000"/>
            <a:ext cx="2984210" cy="2592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100" b="0" i="0">
                <a:solidFill>
                  <a:srgbClr val="12182A"/>
                </a:solidFill>
                <a:latin typeface="Calibri"/>
              </a:rPr>
              <a:t>Doğal 60%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5627788" y="10584000"/>
            <a:ext cx="2188421" cy="2592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100" b="0" i="0">
                <a:solidFill>
                  <a:srgbClr val="12182A"/>
                </a:solidFill>
                <a:latin typeface="Calibri"/>
              </a:rPr>
              <a:t>Açık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7816209" y="10584000"/>
            <a:ext cx="3063789" cy="2592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100" b="0" i="0">
                <a:solidFill>
                  <a:srgbClr val="12182A"/>
                </a:solidFill>
                <a:latin typeface="Calibri"/>
              </a:rPr>
              <a:t>Karışık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11052000" y="10843200"/>
            <a:ext cx="9828000" cy="2592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Rounded Rectangle 156"/>
          <p:cNvSpPr/>
          <p:nvPr/>
        </p:nvSpPr>
        <p:spPr>
          <a:xfrm>
            <a:off x="11124000" y="10879200"/>
            <a:ext cx="1447578" cy="187200"/>
          </a:xfrm>
          <a:prstGeom prst="roundRect">
            <a:avLst/>
          </a:prstGeom>
          <a:solidFill>
            <a:srgbClr val="FF7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TextBox 157"/>
          <p:cNvSpPr txBox="1"/>
          <p:nvPr/>
        </p:nvSpPr>
        <p:spPr>
          <a:xfrm>
            <a:off x="11052000" y="10843200"/>
            <a:ext cx="1591578" cy="2592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Energetic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2643578" y="10843200"/>
            <a:ext cx="2984210" cy="2592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100" b="0" i="0">
                <a:solidFill>
                  <a:srgbClr val="12182A"/>
                </a:solidFill>
                <a:latin typeface="Calibri"/>
              </a:rPr>
              <a:t>Turuncu 90%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15627788" y="10843200"/>
            <a:ext cx="2188421" cy="2592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100" b="0" i="0">
                <a:solidFill>
                  <a:srgbClr val="12182A"/>
                </a:solidFill>
                <a:latin typeface="Calibri"/>
              </a:rPr>
              <a:t>Açık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17816209" y="10843200"/>
            <a:ext cx="3063789" cy="2592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100" b="0" i="0">
                <a:solidFill>
                  <a:srgbClr val="12182A"/>
                </a:solidFill>
                <a:latin typeface="Calibri"/>
              </a:rPr>
              <a:t>EDM · Rock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11052000" y="11102400"/>
            <a:ext cx="9828000" cy="259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Rounded Rectangle 162"/>
          <p:cNvSpPr/>
          <p:nvPr/>
        </p:nvSpPr>
        <p:spPr>
          <a:xfrm>
            <a:off x="11124000" y="11138400"/>
            <a:ext cx="1447578" cy="187200"/>
          </a:xfrm>
          <a:prstGeom prst="roundRect">
            <a:avLst/>
          </a:prstGeom>
          <a:solidFill>
            <a:srgbClr val="EC4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TextBox 163"/>
          <p:cNvSpPr txBox="1"/>
          <p:nvPr/>
        </p:nvSpPr>
        <p:spPr>
          <a:xfrm>
            <a:off x="11052000" y="11102400"/>
            <a:ext cx="1591578" cy="2592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Romantic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2643578" y="11102400"/>
            <a:ext cx="2984210" cy="2592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100" b="0" i="0">
                <a:solidFill>
                  <a:srgbClr val="12182A"/>
                </a:solidFill>
                <a:latin typeface="Calibri"/>
              </a:rPr>
              <a:t>Pembe 40%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15627788" y="11102400"/>
            <a:ext cx="2188421" cy="2592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100" b="0" i="0">
                <a:solidFill>
                  <a:srgbClr val="12182A"/>
                </a:solidFill>
                <a:latin typeface="Calibri"/>
              </a:rPr>
              <a:t>Yarı Kapalı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17816209" y="11102400"/>
            <a:ext cx="3063789" cy="2592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100" b="0" i="0">
                <a:solidFill>
                  <a:srgbClr val="12182A"/>
                </a:solidFill>
                <a:latin typeface="Calibri"/>
              </a:rPr>
              <a:t>R&amp;B · Slow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11052000" y="11361600"/>
            <a:ext cx="9828000" cy="2592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Rounded Rectangle 168"/>
          <p:cNvSpPr/>
          <p:nvPr/>
        </p:nvSpPr>
        <p:spPr>
          <a:xfrm>
            <a:off x="11124000" y="11397600"/>
            <a:ext cx="1447578" cy="187200"/>
          </a:xfrm>
          <a:prstGeom prst="roundRect">
            <a:avLst/>
          </a:prstGeom>
          <a:solidFill>
            <a:srgbClr val="7E57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TextBox 169"/>
          <p:cNvSpPr txBox="1"/>
          <p:nvPr/>
        </p:nvSpPr>
        <p:spPr>
          <a:xfrm>
            <a:off x="11052000" y="11361600"/>
            <a:ext cx="1591578" cy="2592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Fear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12643578" y="11361600"/>
            <a:ext cx="2984210" cy="2592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100" b="0" i="0">
                <a:solidFill>
                  <a:srgbClr val="12182A"/>
                </a:solidFill>
                <a:latin typeface="Calibri"/>
              </a:rPr>
              <a:t>Mor 45%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15627788" y="11361600"/>
            <a:ext cx="2188421" cy="2592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100" b="0" i="0">
                <a:solidFill>
                  <a:srgbClr val="12182A"/>
                </a:solidFill>
                <a:latin typeface="Calibri"/>
              </a:rPr>
              <a:t>Açık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17816209" y="11361600"/>
            <a:ext cx="3063789" cy="2592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100" b="0" i="0">
                <a:solidFill>
                  <a:srgbClr val="12182A"/>
                </a:solidFill>
                <a:latin typeface="Calibri"/>
              </a:rPr>
              <a:t>Sakinleştirici</a:t>
            </a:r>
          </a:p>
        </p:txBody>
      </p:sp>
      <p:sp>
        <p:nvSpPr>
          <p:cNvPr id="174" name="Rounded Rectangle 173"/>
          <p:cNvSpPr/>
          <p:nvPr/>
        </p:nvSpPr>
        <p:spPr>
          <a:xfrm>
            <a:off x="10872000" y="11772000"/>
            <a:ext cx="5022000" cy="396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CF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Rounded Rectangle 174"/>
          <p:cNvSpPr/>
          <p:nvPr/>
        </p:nvSpPr>
        <p:spPr>
          <a:xfrm>
            <a:off x="10872000" y="11772000"/>
            <a:ext cx="5022000" cy="576000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TextBox 175"/>
          <p:cNvSpPr txBox="1"/>
          <p:nvPr/>
        </p:nvSpPr>
        <p:spPr>
          <a:xfrm>
            <a:off x="11016000" y="11772000"/>
            <a:ext cx="4806000" cy="57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AI · SOHBET AJANI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10944000" y="12384000"/>
            <a:ext cx="4878000" cy="3312000"/>
          </a:xfrm>
          <a:prstGeom prst="rect">
            <a:avLst/>
          </a:prstGeom>
          <a:noFill/>
        </p:spPr>
        <p:txBody>
          <a:bodyPr wrap="square" lIns="54000" tIns="36000" rIns="54000" bIns="3600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12182A"/>
                </a:solidFill>
                <a:latin typeface="Calibri"/>
              </a:rPr>
              <a:t>claude-haiku-4-5-20251001 modeli, Anthropic Messages API’si üzerinden tool-use döngüsünde çalışır.</a:t>
            </a:r>
          </a:p>
          <a:p>
            <a:pPr algn="l">
              <a:lnSpc>
                <a:spcPct val="110000"/>
              </a:lnSpc>
            </a:pPr>
            <a:r>
              <a:rPr sz="500" b="0" i="0">
                <a:solidFill>
                  <a:srgbClr val="12182A"/>
                </a:solidFill>
                <a:latin typeface="Calibri"/>
              </a:rPr>
              <a:t> </a:t>
            </a:r>
          </a:p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B2A5B"/>
                </a:solidFill>
                <a:latin typeface="Calibri"/>
              </a:rPr>
              <a:t>Araçlar (tools)</a:t>
            </a:r>
          </a:p>
          <a:p>
            <a:pPr marL="228600" indent="-228600" algn="l">
              <a:lnSpc>
                <a:spcPct val="110000"/>
              </a:lnSpc>
              <a:buChar char="•"/>
            </a:pPr>
            <a:r>
              <a:rPr sz="1100" b="0" i="0">
                <a:solidFill>
                  <a:srgbClr val="12182A"/>
                </a:solidFill>
                <a:latin typeface="Calibri"/>
              </a:rPr>
              <a:t>get_devices()</a:t>
            </a:r>
          </a:p>
          <a:p>
            <a:pPr marL="228600" indent="-228600" algn="l">
              <a:lnSpc>
                <a:spcPct val="110000"/>
              </a:lnSpc>
              <a:buChar char="•"/>
            </a:pPr>
            <a:r>
              <a:rPr sz="1100" b="0" i="0">
                <a:solidFill>
                  <a:srgbClr val="12182A"/>
                </a:solidFill>
                <a:latin typeface="Calibri"/>
              </a:rPr>
              <a:t>get_sensor_data()</a:t>
            </a:r>
          </a:p>
          <a:p>
            <a:pPr marL="228600" indent="-228600" algn="l">
              <a:lnSpc>
                <a:spcPct val="110000"/>
              </a:lnSpc>
              <a:buChar char="•"/>
            </a:pPr>
            <a:r>
              <a:rPr sz="1100" b="0" i="0">
                <a:solidFill>
                  <a:srgbClr val="12182A"/>
                </a:solidFill>
                <a:latin typeface="Calibri"/>
              </a:rPr>
              <a:t>get_automations()</a:t>
            </a:r>
          </a:p>
          <a:p>
            <a:pPr marL="228600" indent="-228600" algn="l">
              <a:lnSpc>
                <a:spcPct val="110000"/>
              </a:lnSpc>
              <a:buChar char="•"/>
            </a:pPr>
            <a:r>
              <a:rPr sz="1100" b="0" i="0">
                <a:solidFill>
                  <a:srgbClr val="12182A"/>
                </a:solidFill>
                <a:latin typeface="Calibri"/>
              </a:rPr>
              <a:t>control_device(deviceid, prop, val)</a:t>
            </a:r>
          </a:p>
          <a:p>
            <a:pPr marL="228600" indent="-228600" algn="l">
              <a:lnSpc>
                <a:spcPct val="110000"/>
              </a:lnSpc>
              <a:buChar char="•"/>
            </a:pPr>
            <a:r>
              <a:rPr sz="1100" b="0" i="0">
                <a:solidFill>
                  <a:srgbClr val="12182A"/>
                </a:solidFill>
                <a:latin typeface="Calibri"/>
              </a:rPr>
              <a:t>set_mood(label, score)</a:t>
            </a:r>
          </a:p>
          <a:p>
            <a:pPr algn="l">
              <a:lnSpc>
                <a:spcPct val="110000"/>
              </a:lnSpc>
            </a:pPr>
            <a:r>
              <a:rPr sz="500" b="0" i="0">
                <a:solidFill>
                  <a:srgbClr val="12182A"/>
                </a:solidFill>
                <a:latin typeface="Calibri"/>
              </a:rPr>
              <a:t> </a:t>
            </a:r>
          </a:p>
          <a:p>
            <a:pPr algn="l">
              <a:lnSpc>
                <a:spcPct val="110000"/>
              </a:lnSpc>
            </a:pPr>
            <a:r>
              <a:rPr sz="1150" b="0" i="1">
                <a:solidFill>
                  <a:srgbClr val="444C66"/>
                </a:solidFill>
                <a:latin typeface="Calibri"/>
              </a:rPr>
              <a:t>Doğal dilden komut: «salonun ışığını mavi yap, ses %20» → ajan get_devices ile kanonik deviceid’i çözer ve control_device çağrısı yapar.</a:t>
            </a:r>
          </a:p>
        </p:txBody>
      </p:sp>
      <p:sp>
        <p:nvSpPr>
          <p:cNvPr id="178" name="Rounded Rectangle 177"/>
          <p:cNvSpPr/>
          <p:nvPr/>
        </p:nvSpPr>
        <p:spPr>
          <a:xfrm>
            <a:off x="16038000" y="11772000"/>
            <a:ext cx="5022000" cy="396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CF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Rounded Rectangle 178"/>
          <p:cNvSpPr/>
          <p:nvPr/>
        </p:nvSpPr>
        <p:spPr>
          <a:xfrm>
            <a:off x="16038000" y="11772000"/>
            <a:ext cx="5022000" cy="576000"/>
          </a:xfrm>
          <a:prstGeom prst="roundRect">
            <a:avLst/>
          </a:prstGeom>
          <a:solidFill>
            <a:srgbClr val="1DB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TextBox 179"/>
          <p:cNvSpPr txBox="1"/>
          <p:nvPr/>
        </p:nvSpPr>
        <p:spPr>
          <a:xfrm>
            <a:off x="16182000" y="11772000"/>
            <a:ext cx="4806000" cy="57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MOOD · SPOTIFY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16110000" y="12384000"/>
            <a:ext cx="4878000" cy="3312000"/>
          </a:xfrm>
          <a:prstGeom prst="rect">
            <a:avLst/>
          </a:prstGeom>
          <a:noFill/>
        </p:spPr>
        <p:txBody>
          <a:bodyPr wrap="square" lIns="54000" tIns="36000" rIns="54000" bIns="3600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12182A"/>
                </a:solidFill>
                <a:latin typeface="Calibri"/>
              </a:rPr>
              <a:t>Spotify’ın Kasım 2024’te /v1/recommendations ve /v1/audio-features uç noktalarını yeni uygulamalar için kapatması üzerine, %100 kişisel koleksiyon tabanlı bir öneri hattı tasarlandı:</a:t>
            </a:r>
          </a:p>
          <a:p>
            <a:pPr algn="l">
              <a:lnSpc>
                <a:spcPct val="110000"/>
              </a:lnSpc>
            </a:pPr>
            <a:r>
              <a:rPr sz="500" b="0" i="0">
                <a:solidFill>
                  <a:srgbClr val="12182A"/>
                </a:solidFill>
                <a:latin typeface="Calibri"/>
              </a:rPr>
              <a:t> </a:t>
            </a:r>
          </a:p>
          <a:p>
            <a:pPr marL="228600" indent="-228600" algn="l">
              <a:lnSpc>
                <a:spcPct val="110000"/>
              </a:lnSpc>
              <a:buChar char="•"/>
            </a:pPr>
            <a:r>
              <a:rPr sz="1100" b="0" i="0">
                <a:solidFill>
                  <a:srgbClr val="12182A"/>
                </a:solidFill>
                <a:latin typeface="Calibri"/>
              </a:rPr>
              <a:t>/v1/me/top/tracks (short + medium + long) → ~120 parça</a:t>
            </a:r>
          </a:p>
          <a:p>
            <a:pPr marL="228600" indent="-228600" algn="l">
              <a:lnSpc>
                <a:spcPct val="110000"/>
              </a:lnSpc>
              <a:buChar char="•"/>
            </a:pPr>
            <a:r>
              <a:rPr sz="1100" b="0" i="0">
                <a:solidFill>
                  <a:srgbClr val="12182A"/>
                </a:solidFill>
                <a:latin typeface="Calibri"/>
              </a:rPr>
              <a:t>Mood’a göre TR + EN anahtar-kelime regex skorlama</a:t>
            </a:r>
          </a:p>
          <a:p>
            <a:pPr marL="228600" indent="-228600" algn="l">
              <a:lnSpc>
                <a:spcPct val="110000"/>
              </a:lnSpc>
              <a:buChar char="•"/>
            </a:pPr>
            <a:r>
              <a:rPr sz="1100" b="0" i="0">
                <a:solidFill>
                  <a:srgbClr val="12182A"/>
                </a:solidFill>
                <a:latin typeface="Calibri"/>
              </a:rPr>
              <a:t>Eşleşen yüksek skorlu parçalar + kalan koleksiyon dolgusu</a:t>
            </a:r>
          </a:p>
          <a:p>
            <a:pPr marL="228600" indent="-228600" algn="l">
              <a:lnSpc>
                <a:spcPct val="110000"/>
              </a:lnSpc>
              <a:buChar char="•"/>
            </a:pPr>
            <a:r>
              <a:rPr sz="1100" b="0" i="0">
                <a:solidFill>
                  <a:srgbClr val="12182A"/>
                </a:solidFill>
                <a:latin typeface="Calibri"/>
              </a:rPr>
              <a:t>Etiketler: catalog_mood_matched / catalog_fill</a:t>
            </a:r>
          </a:p>
          <a:p>
            <a:pPr algn="l">
              <a:lnSpc>
                <a:spcPct val="110000"/>
              </a:lnSpc>
            </a:pPr>
            <a:r>
              <a:rPr sz="500" b="0" i="0">
                <a:solidFill>
                  <a:srgbClr val="12182A"/>
                </a:solidFill>
                <a:latin typeface="Calibri"/>
              </a:rPr>
              <a:t> </a:t>
            </a:r>
          </a:p>
          <a:p>
            <a:pPr algn="l">
              <a:lnSpc>
                <a:spcPct val="110000"/>
              </a:lnSpc>
            </a:pPr>
            <a:r>
              <a:rPr sz="1150" b="0" i="1">
                <a:solidFill>
                  <a:srgbClr val="1DB954"/>
                </a:solidFill>
                <a:latin typeface="Calibri"/>
              </a:rPr>
              <a:t>Sonuç: Türk dinleyici asla yabancı pop-rock önerisi almaz; öneriler her zaman kendi dinleme geçmişinden gelir.</a:t>
            </a:r>
          </a:p>
        </p:txBody>
      </p:sp>
      <p:sp>
        <p:nvSpPr>
          <p:cNvPr id="182" name="Rounded Rectangle 181"/>
          <p:cNvSpPr/>
          <p:nvPr/>
        </p:nvSpPr>
        <p:spPr>
          <a:xfrm>
            <a:off x="10872000" y="15912000"/>
            <a:ext cx="10188000" cy="540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CF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Rounded Rectangle 182"/>
          <p:cNvSpPr/>
          <p:nvPr/>
        </p:nvSpPr>
        <p:spPr>
          <a:xfrm>
            <a:off x="10872000" y="15912000"/>
            <a:ext cx="10188000" cy="576000"/>
          </a:xfrm>
          <a:prstGeom prst="round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TextBox 183"/>
          <p:cNvSpPr txBox="1"/>
          <p:nvPr/>
        </p:nvSpPr>
        <p:spPr>
          <a:xfrm>
            <a:off x="11016000" y="15912000"/>
            <a:ext cx="10188000" cy="57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MOBİL UYGULAMA · FLUTTER</a:t>
            </a:r>
          </a:p>
        </p:txBody>
      </p:sp>
      <p:pic>
        <p:nvPicPr>
          <p:cNvPr id="185" name="Picture 184" descr="fig_5_10_app_screen_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6000" y="16632000"/>
            <a:ext cx="4860000" cy="3960000"/>
          </a:xfrm>
          <a:prstGeom prst="rect">
            <a:avLst/>
          </a:prstGeom>
        </p:spPr>
      </p:pic>
      <p:sp>
        <p:nvSpPr>
          <p:cNvPr id="186" name="TextBox 185"/>
          <p:cNvSpPr txBox="1"/>
          <p:nvPr/>
        </p:nvSpPr>
        <p:spPr>
          <a:xfrm>
            <a:off x="15984000" y="16632000"/>
            <a:ext cx="4932000" cy="4680000"/>
          </a:xfrm>
          <a:prstGeom prst="rect">
            <a:avLst/>
          </a:prstGeom>
          <a:noFill/>
        </p:spPr>
        <p:txBody>
          <a:bodyPr wrap="square" lIns="54000" tIns="36000" rIns="54000" bIns="3600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0B2A5B"/>
                </a:solidFill>
                <a:latin typeface="Calibri"/>
              </a:rPr>
              <a:t>Çapraz Platform</a:t>
            </a:r>
          </a:p>
          <a:p>
            <a:pPr marL="228600" indent="-228600" algn="l">
              <a:lnSpc>
                <a:spcPct val="110000"/>
              </a:lnSpc>
              <a:buChar char="•"/>
            </a:pPr>
            <a:r>
              <a:rPr sz="1100" b="0" i="0">
                <a:solidFill>
                  <a:srgbClr val="12182A"/>
                </a:solidFill>
                <a:latin typeface="Calibri"/>
              </a:rPr>
              <a:t>Flutter 3.38 · Dart 3.10</a:t>
            </a:r>
          </a:p>
          <a:p>
            <a:pPr marL="228600" indent="-228600" algn="l">
              <a:lnSpc>
                <a:spcPct val="110000"/>
              </a:lnSpc>
              <a:buChar char="•"/>
            </a:pPr>
            <a:r>
              <a:rPr sz="1100" b="0" i="0">
                <a:solidFill>
                  <a:srgbClr val="12182A"/>
                </a:solidFill>
                <a:latin typeface="Calibri"/>
              </a:rPr>
              <a:t>iOS + Android tek kod tabanı</a:t>
            </a:r>
          </a:p>
          <a:p>
            <a:pPr algn="l">
              <a:lnSpc>
                <a:spcPct val="110000"/>
              </a:lnSpc>
            </a:pPr>
            <a:r>
              <a:rPr sz="500" b="0" i="0">
                <a:solidFill>
                  <a:srgbClr val="12182A"/>
                </a:solidFill>
                <a:latin typeface="Calibri"/>
              </a:rPr>
              <a:t> </a:t>
            </a:r>
          </a:p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0B2A5B"/>
                </a:solidFill>
                <a:latin typeface="Calibri"/>
              </a:rPr>
              <a:t>Durum Yönetimi</a:t>
            </a:r>
          </a:p>
          <a:p>
            <a:pPr marL="228600" indent="-228600" algn="l">
              <a:lnSpc>
                <a:spcPct val="110000"/>
              </a:lnSpc>
              <a:buChar char="•"/>
            </a:pPr>
            <a:r>
              <a:rPr sz="1100" b="0" i="0">
                <a:solidFill>
                  <a:srgbClr val="12182A"/>
                </a:solidFill>
                <a:latin typeface="Calibri"/>
              </a:rPr>
              <a:t>Riverpod 3.x · 7 NotifierProvider</a:t>
            </a:r>
          </a:p>
          <a:p>
            <a:pPr marL="228600" indent="-228600" algn="l">
              <a:lnSpc>
                <a:spcPct val="110000"/>
              </a:lnSpc>
              <a:buChar char="•"/>
            </a:pPr>
            <a:r>
              <a:rPr sz="1100" b="0" i="0">
                <a:solidFill>
                  <a:srgbClr val="12182A"/>
                </a:solidFill>
                <a:latin typeface="Calibri"/>
              </a:rPr>
              <a:t>auth · home · alert · theme · mood · spotify</a:t>
            </a:r>
          </a:p>
          <a:p>
            <a:pPr algn="l">
              <a:lnSpc>
                <a:spcPct val="110000"/>
              </a:lnSpc>
            </a:pPr>
            <a:r>
              <a:rPr sz="500" b="0" i="0">
                <a:solidFill>
                  <a:srgbClr val="12182A"/>
                </a:solidFill>
                <a:latin typeface="Calibri"/>
              </a:rPr>
              <a:t> </a:t>
            </a:r>
          </a:p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0B2A5B"/>
                </a:solidFill>
                <a:latin typeface="Calibri"/>
              </a:rPr>
              <a:t>Ana Ekranlar</a:t>
            </a:r>
          </a:p>
          <a:p>
            <a:pPr marL="228600" indent="-228600" algn="l">
              <a:lnSpc>
                <a:spcPct val="110000"/>
              </a:lnSpc>
              <a:buChar char="•"/>
            </a:pPr>
            <a:r>
              <a:rPr sz="1100" b="0" i="0">
                <a:solidFill>
                  <a:srgbClr val="12182A"/>
                </a:solidFill>
                <a:latin typeface="Calibri"/>
              </a:rPr>
              <a:t>Dashboard (5 sn polling)</a:t>
            </a:r>
          </a:p>
          <a:p>
            <a:pPr marL="228600" indent="-228600" algn="l">
              <a:lnSpc>
                <a:spcPct val="110000"/>
              </a:lnSpc>
              <a:buChar char="•"/>
            </a:pPr>
            <a:r>
              <a:rPr sz="1100" b="0" i="0">
                <a:solidFill>
                  <a:srgbClr val="12182A"/>
                </a:solidFill>
                <a:latin typeface="Calibri"/>
              </a:rPr>
              <a:t>Devices · Live Properties</a:t>
            </a:r>
          </a:p>
          <a:p>
            <a:pPr marL="228600" indent="-228600" algn="l">
              <a:lnSpc>
                <a:spcPct val="110000"/>
              </a:lnSpc>
              <a:buChar char="•"/>
            </a:pPr>
            <a:r>
              <a:rPr sz="1100" b="0" i="0">
                <a:solidFill>
                  <a:srgbClr val="12182A"/>
                </a:solidFill>
                <a:latin typeface="Calibri"/>
              </a:rPr>
              <a:t>Automations (sensor + mood)</a:t>
            </a:r>
          </a:p>
          <a:p>
            <a:pPr marL="228600" indent="-228600" algn="l">
              <a:lnSpc>
                <a:spcPct val="110000"/>
              </a:lnSpc>
              <a:buChar char="•"/>
            </a:pPr>
            <a:r>
              <a:rPr sz="1100" b="0" i="0">
                <a:solidFill>
                  <a:srgbClr val="12182A"/>
                </a:solidFill>
                <a:latin typeface="Calibri"/>
              </a:rPr>
              <a:t>AI Hub · Emotion Scan</a:t>
            </a:r>
          </a:p>
          <a:p>
            <a:pPr marL="228600" indent="-228600" algn="l">
              <a:lnSpc>
                <a:spcPct val="110000"/>
              </a:lnSpc>
              <a:buChar char="•"/>
            </a:pPr>
            <a:r>
              <a:rPr sz="1100" b="0" i="0">
                <a:solidFill>
                  <a:srgbClr val="12182A"/>
                </a:solidFill>
                <a:latin typeface="Calibri"/>
              </a:rPr>
              <a:t>AI Chat · Spotify</a:t>
            </a:r>
          </a:p>
          <a:p>
            <a:pPr algn="l">
              <a:lnSpc>
                <a:spcPct val="110000"/>
              </a:lnSpc>
            </a:pPr>
            <a:r>
              <a:rPr sz="500" b="0" i="0">
                <a:solidFill>
                  <a:srgbClr val="12182A"/>
                </a:solidFill>
                <a:latin typeface="Calibri"/>
              </a:rPr>
              <a:t> </a:t>
            </a:r>
          </a:p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0B2A5B"/>
                </a:solidFill>
                <a:latin typeface="Calibri"/>
              </a:rPr>
              <a:t>Bildirim</a:t>
            </a:r>
          </a:p>
          <a:p>
            <a:pPr marL="228600" indent="-228600" algn="l">
              <a:lnSpc>
                <a:spcPct val="110000"/>
              </a:lnSpc>
              <a:buChar char="•"/>
            </a:pPr>
            <a:r>
              <a:rPr sz="1100" b="0" i="0">
                <a:solidFill>
                  <a:srgbClr val="12182A"/>
                </a:solidFill>
                <a:latin typeface="Calibri"/>
              </a:rPr>
              <a:t>FCM · Foreground modal</a:t>
            </a:r>
          </a:p>
          <a:p>
            <a:pPr marL="228600" indent="-228600" algn="l">
              <a:lnSpc>
                <a:spcPct val="110000"/>
              </a:lnSpc>
              <a:buChar char="•"/>
            </a:pPr>
            <a:r>
              <a:rPr sz="1100" b="0" i="0">
                <a:solidFill>
                  <a:srgbClr val="12182A"/>
                </a:solidFill>
                <a:latin typeface="Calibri"/>
              </a:rPr>
              <a:t>Kritik / Uyarı / Bilgi</a:t>
            </a:r>
          </a:p>
          <a:p>
            <a:pPr algn="l">
              <a:lnSpc>
                <a:spcPct val="110000"/>
              </a:lnSpc>
            </a:pPr>
            <a:r>
              <a:rPr sz="500" b="0" i="0">
                <a:solidFill>
                  <a:srgbClr val="12182A"/>
                </a:solidFill>
                <a:latin typeface="Calibri"/>
              </a:rPr>
              <a:t> </a:t>
            </a:r>
          </a:p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0B2A5B"/>
                </a:solidFill>
                <a:latin typeface="Calibri"/>
              </a:rPr>
              <a:t>Çoklu Ev (Multi-home)</a:t>
            </a:r>
          </a:p>
          <a:p>
            <a:pPr marL="228600" indent="-228600" algn="l">
              <a:lnSpc>
                <a:spcPct val="110000"/>
              </a:lnSpc>
              <a:buChar char="•"/>
            </a:pPr>
            <a:r>
              <a:rPr sz="1100" b="0" i="0">
                <a:solidFill>
                  <a:srgbClr val="12182A"/>
                </a:solidFill>
                <a:latin typeface="Calibri"/>
              </a:rPr>
              <a:t>QR Kod ile davet</a:t>
            </a:r>
          </a:p>
          <a:p>
            <a:pPr marL="228600" indent="-228600" algn="l">
              <a:lnSpc>
                <a:spcPct val="110000"/>
              </a:lnSpc>
              <a:buChar char="•"/>
            </a:pPr>
            <a:r>
              <a:rPr sz="1100" b="0" i="0">
                <a:solidFill>
                  <a:srgbClr val="12182A"/>
                </a:solidFill>
                <a:latin typeface="Calibri"/>
              </a:rPr>
              <a:t>Cognito kullanıcı/rol</a:t>
            </a:r>
          </a:p>
        </p:txBody>
      </p:sp>
      <p:sp>
        <p:nvSpPr>
          <p:cNvPr id="187" name="Rounded Rectangle 186"/>
          <p:cNvSpPr/>
          <p:nvPr/>
        </p:nvSpPr>
        <p:spPr>
          <a:xfrm>
            <a:off x="10872000" y="21492000"/>
            <a:ext cx="10188000" cy="414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CF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Rounded Rectangle 187"/>
          <p:cNvSpPr/>
          <p:nvPr/>
        </p:nvSpPr>
        <p:spPr>
          <a:xfrm>
            <a:off x="10872000" y="21492000"/>
            <a:ext cx="10188000" cy="576000"/>
          </a:xfrm>
          <a:prstGeom prst="round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TextBox 188"/>
          <p:cNvSpPr txBox="1"/>
          <p:nvPr/>
        </p:nvSpPr>
        <p:spPr>
          <a:xfrm>
            <a:off x="11016000" y="21492000"/>
            <a:ext cx="9972000" cy="57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SONUÇLAR ve GELECEK İŞ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10944000" y="22104000"/>
            <a:ext cx="10044000" cy="3492000"/>
          </a:xfrm>
          <a:prstGeom prst="rect">
            <a:avLst/>
          </a:prstGeom>
          <a:noFill/>
        </p:spPr>
        <p:txBody>
          <a:bodyPr wrap="square" lIns="54000" tIns="36000" rIns="54000" bIns="3600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i="0" dirty="0" err="1">
                <a:solidFill>
                  <a:srgbClr val="0B2A5B"/>
                </a:solidFill>
                <a:latin typeface="Calibri"/>
              </a:rPr>
              <a:t>Ölçülen</a:t>
            </a:r>
            <a:r>
              <a:rPr sz="1350" b="1" i="0" dirty="0">
                <a:solidFill>
                  <a:srgbClr val="0B2A5B"/>
                </a:solidFill>
                <a:latin typeface="Calibri"/>
              </a:rPr>
              <a:t> </a:t>
            </a:r>
            <a:r>
              <a:rPr sz="1350" b="1" i="0" dirty="0" err="1">
                <a:solidFill>
                  <a:srgbClr val="0B2A5B"/>
                </a:solidFill>
                <a:latin typeface="Calibri"/>
              </a:rPr>
              <a:t>Performans</a:t>
            </a:r>
            <a:endParaRPr sz="1350" b="1" i="0" dirty="0">
              <a:solidFill>
                <a:srgbClr val="0B2A5B"/>
              </a:solidFill>
              <a:latin typeface="Calibri"/>
            </a:endParaRPr>
          </a:p>
          <a:p>
            <a:pPr marL="228600" indent="-228600" algn="l">
              <a:lnSpc>
                <a:spcPct val="110000"/>
              </a:lnSpc>
              <a:buChar char="•"/>
            </a:pPr>
            <a:r>
              <a:rPr sz="1200" b="0" i="0" dirty="0" err="1">
                <a:solidFill>
                  <a:srgbClr val="12182A"/>
                </a:solidFill>
                <a:latin typeface="Calibri"/>
              </a:rPr>
              <a:t>Ortalama</a:t>
            </a:r>
            <a:r>
              <a:rPr sz="1200" b="0" i="0" dirty="0">
                <a:solidFill>
                  <a:srgbClr val="12182A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12182A"/>
                </a:solidFill>
                <a:latin typeface="Calibri"/>
              </a:rPr>
              <a:t>duygu</a:t>
            </a:r>
            <a:r>
              <a:rPr sz="1200" b="0" i="0" dirty="0">
                <a:solidFill>
                  <a:srgbClr val="12182A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12182A"/>
                </a:solidFill>
                <a:latin typeface="Calibri"/>
              </a:rPr>
              <a:t>çıkarım</a:t>
            </a:r>
            <a:r>
              <a:rPr sz="1200" b="0" i="0" dirty="0">
                <a:solidFill>
                  <a:srgbClr val="12182A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12182A"/>
                </a:solidFill>
                <a:latin typeface="Calibri"/>
              </a:rPr>
              <a:t>gecikmesi</a:t>
            </a:r>
            <a:r>
              <a:rPr sz="1200" b="0" i="0" dirty="0">
                <a:solidFill>
                  <a:srgbClr val="12182A"/>
                </a:solidFill>
                <a:latin typeface="Calibri"/>
              </a:rPr>
              <a:t> (LAN, Pi 5):  ~ 320 </a:t>
            </a:r>
            <a:r>
              <a:rPr sz="1200" b="0" i="0" dirty="0" err="1">
                <a:solidFill>
                  <a:srgbClr val="12182A"/>
                </a:solidFill>
                <a:latin typeface="Calibri"/>
              </a:rPr>
              <a:t>ms</a:t>
            </a:r>
            <a:endParaRPr sz="1200" b="0" i="0" dirty="0">
              <a:solidFill>
                <a:srgbClr val="12182A"/>
              </a:solidFill>
              <a:latin typeface="Calibri"/>
            </a:endParaRPr>
          </a:p>
          <a:p>
            <a:pPr marL="228600" indent="-228600" algn="l">
              <a:lnSpc>
                <a:spcPct val="110000"/>
              </a:lnSpc>
              <a:buChar char="•"/>
            </a:pPr>
            <a:r>
              <a:rPr sz="1200" b="0" i="0" dirty="0" err="1">
                <a:solidFill>
                  <a:srgbClr val="12182A"/>
                </a:solidFill>
                <a:latin typeface="Calibri"/>
              </a:rPr>
              <a:t>Komut</a:t>
            </a:r>
            <a:r>
              <a:rPr sz="1200" b="0" i="0" dirty="0">
                <a:solidFill>
                  <a:srgbClr val="12182A"/>
                </a:solidFill>
                <a:latin typeface="Calibri"/>
              </a:rPr>
              <a:t> → IoT Core → Pi </a:t>
            </a:r>
            <a:r>
              <a:rPr sz="1200" b="0" i="0" dirty="0" err="1">
                <a:solidFill>
                  <a:srgbClr val="12182A"/>
                </a:solidFill>
                <a:latin typeface="Calibri"/>
              </a:rPr>
              <a:t>gerçek</a:t>
            </a:r>
            <a:r>
              <a:rPr sz="1200" b="0" i="0" dirty="0">
                <a:solidFill>
                  <a:srgbClr val="12182A"/>
                </a:solidFill>
                <a:latin typeface="Calibri"/>
              </a:rPr>
              <a:t>-zaman </a:t>
            </a:r>
            <a:r>
              <a:rPr sz="1200" b="0" i="0" dirty="0" err="1">
                <a:solidFill>
                  <a:srgbClr val="12182A"/>
                </a:solidFill>
                <a:latin typeface="Calibri"/>
              </a:rPr>
              <a:t>komut</a:t>
            </a:r>
            <a:r>
              <a:rPr sz="1200" b="0" i="0" dirty="0">
                <a:solidFill>
                  <a:srgbClr val="12182A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12182A"/>
                </a:solidFill>
                <a:latin typeface="Calibri"/>
              </a:rPr>
              <a:t>gecikmesi</a:t>
            </a:r>
            <a:r>
              <a:rPr sz="1200" b="0" i="0" dirty="0">
                <a:solidFill>
                  <a:srgbClr val="12182A"/>
                </a:solidFill>
                <a:latin typeface="Calibri"/>
              </a:rPr>
              <a:t>:  &lt; 850 </a:t>
            </a:r>
            <a:r>
              <a:rPr sz="1200" b="0" i="0" dirty="0" err="1">
                <a:solidFill>
                  <a:srgbClr val="12182A"/>
                </a:solidFill>
                <a:latin typeface="Calibri"/>
              </a:rPr>
              <a:t>ms</a:t>
            </a:r>
            <a:endParaRPr sz="1200" b="0" i="0" dirty="0">
              <a:solidFill>
                <a:srgbClr val="12182A"/>
              </a:solidFill>
              <a:latin typeface="Calibri"/>
            </a:endParaRPr>
          </a:p>
          <a:p>
            <a:pPr marL="228600" indent="-228600" algn="l">
              <a:lnSpc>
                <a:spcPct val="110000"/>
              </a:lnSpc>
              <a:buChar char="•"/>
            </a:pPr>
            <a:r>
              <a:rPr sz="1200" b="0" i="0" dirty="0">
                <a:solidFill>
                  <a:srgbClr val="12182A"/>
                </a:solidFill>
                <a:latin typeface="Calibri"/>
              </a:rPr>
              <a:t>Dashboard </a:t>
            </a:r>
            <a:r>
              <a:rPr sz="1200" b="0" i="0" dirty="0" err="1">
                <a:solidFill>
                  <a:srgbClr val="12182A"/>
                </a:solidFill>
                <a:latin typeface="Calibri"/>
              </a:rPr>
              <a:t>sensör</a:t>
            </a:r>
            <a:r>
              <a:rPr sz="1200" b="0" i="0" dirty="0">
                <a:solidFill>
                  <a:srgbClr val="12182A"/>
                </a:solidFill>
                <a:latin typeface="Calibri"/>
              </a:rPr>
              <a:t> polling </a:t>
            </a:r>
            <a:r>
              <a:rPr sz="1200" b="0" i="0" dirty="0" err="1">
                <a:solidFill>
                  <a:srgbClr val="12182A"/>
                </a:solidFill>
                <a:latin typeface="Calibri"/>
              </a:rPr>
              <a:t>periyodu</a:t>
            </a:r>
            <a:r>
              <a:rPr sz="1200" b="0" i="0" dirty="0">
                <a:solidFill>
                  <a:srgbClr val="12182A"/>
                </a:solidFill>
                <a:latin typeface="Calibri"/>
              </a:rPr>
              <a:t>:  5 </a:t>
            </a:r>
            <a:r>
              <a:rPr sz="1200" b="0" i="0" dirty="0" err="1">
                <a:solidFill>
                  <a:srgbClr val="12182A"/>
                </a:solidFill>
                <a:latin typeface="Calibri"/>
              </a:rPr>
              <a:t>sn</a:t>
            </a:r>
            <a:r>
              <a:rPr sz="1200" b="0" i="0" dirty="0">
                <a:solidFill>
                  <a:srgbClr val="12182A"/>
                </a:solidFill>
                <a:latin typeface="Calibri"/>
              </a:rPr>
              <a:t> (</a:t>
            </a:r>
            <a:r>
              <a:rPr sz="1200" b="0" i="0" dirty="0" err="1">
                <a:solidFill>
                  <a:srgbClr val="12182A"/>
                </a:solidFill>
                <a:latin typeface="Calibri"/>
              </a:rPr>
              <a:t>yapılandırılabilir</a:t>
            </a:r>
            <a:r>
              <a:rPr sz="1200" b="0" i="0" dirty="0">
                <a:solidFill>
                  <a:srgbClr val="12182A"/>
                </a:solidFill>
                <a:latin typeface="Calibri"/>
              </a:rPr>
              <a:t>)</a:t>
            </a:r>
          </a:p>
          <a:p>
            <a:pPr marL="228600" indent="-228600" algn="l">
              <a:lnSpc>
                <a:spcPct val="110000"/>
              </a:lnSpc>
              <a:buChar char="•"/>
            </a:pPr>
            <a:r>
              <a:rPr sz="1200" b="0" i="0" dirty="0">
                <a:solidFill>
                  <a:srgbClr val="12182A"/>
                </a:solidFill>
                <a:latin typeface="Calibri"/>
              </a:rPr>
              <a:t>Pi </a:t>
            </a:r>
            <a:r>
              <a:rPr sz="1200" b="0" i="0" dirty="0" err="1">
                <a:solidFill>
                  <a:srgbClr val="12182A"/>
                </a:solidFill>
                <a:latin typeface="Calibri"/>
              </a:rPr>
              <a:t>üzerinde</a:t>
            </a:r>
            <a:r>
              <a:rPr sz="1200" b="0" i="0" dirty="0">
                <a:solidFill>
                  <a:srgbClr val="12182A"/>
                </a:solidFill>
                <a:latin typeface="Calibri"/>
              </a:rPr>
              <a:t> 10-sınıflı </a:t>
            </a:r>
            <a:r>
              <a:rPr sz="1200" b="0" i="0" dirty="0" err="1">
                <a:solidFill>
                  <a:srgbClr val="12182A"/>
                </a:solidFill>
                <a:latin typeface="Calibri"/>
              </a:rPr>
              <a:t>duygu</a:t>
            </a:r>
            <a:r>
              <a:rPr sz="1200" b="0" i="0" dirty="0">
                <a:solidFill>
                  <a:srgbClr val="12182A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12182A"/>
                </a:solidFill>
                <a:latin typeface="Calibri"/>
              </a:rPr>
              <a:t>modeli</a:t>
            </a:r>
            <a:r>
              <a:rPr sz="1200" b="0" i="0" dirty="0">
                <a:solidFill>
                  <a:srgbClr val="12182A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12182A"/>
                </a:solidFill>
                <a:latin typeface="Calibri"/>
              </a:rPr>
              <a:t>kabaca-doğruluk</a:t>
            </a:r>
            <a:r>
              <a:rPr sz="1200" b="0" i="0" dirty="0">
                <a:solidFill>
                  <a:srgbClr val="12182A"/>
                </a:solidFill>
                <a:latin typeface="Calibri"/>
              </a:rPr>
              <a:t>:  %86 (in-house dataset </a:t>
            </a:r>
            <a:r>
              <a:rPr sz="1200" b="0" i="0" dirty="0" err="1">
                <a:solidFill>
                  <a:srgbClr val="12182A"/>
                </a:solidFill>
                <a:latin typeface="Calibri"/>
              </a:rPr>
              <a:t>üzerinde</a:t>
            </a:r>
            <a:r>
              <a:rPr sz="1200" b="0" i="0" dirty="0">
                <a:solidFill>
                  <a:srgbClr val="12182A"/>
                </a:solidFill>
                <a:latin typeface="Calibri"/>
              </a:rPr>
              <a:t>)</a:t>
            </a:r>
          </a:p>
          <a:p>
            <a:pPr marL="228600" indent="-228600" algn="l">
              <a:lnSpc>
                <a:spcPct val="110000"/>
              </a:lnSpc>
              <a:buChar char="•"/>
            </a:pPr>
            <a:r>
              <a:rPr sz="1200" b="0" i="0" dirty="0">
                <a:solidFill>
                  <a:srgbClr val="12182A"/>
                </a:solidFill>
                <a:latin typeface="Calibri"/>
              </a:rPr>
              <a:t>Cognito + API Gateway </a:t>
            </a:r>
            <a:r>
              <a:rPr sz="1200" b="0" i="0" dirty="0" err="1">
                <a:solidFill>
                  <a:srgbClr val="12182A"/>
                </a:solidFill>
                <a:latin typeface="Calibri"/>
              </a:rPr>
              <a:t>uçtan</a:t>
            </a:r>
            <a:r>
              <a:rPr sz="1200" b="0" i="0" dirty="0">
                <a:solidFill>
                  <a:srgbClr val="12182A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12182A"/>
                </a:solidFill>
                <a:latin typeface="Calibri"/>
              </a:rPr>
              <a:t>uca</a:t>
            </a:r>
            <a:r>
              <a:rPr sz="1200" b="0" i="0" dirty="0">
                <a:solidFill>
                  <a:srgbClr val="12182A"/>
                </a:solidFill>
                <a:latin typeface="Calibri"/>
              </a:rPr>
              <a:t> TLS 1.2 </a:t>
            </a:r>
            <a:r>
              <a:rPr sz="1200" b="0" i="0" dirty="0" err="1">
                <a:solidFill>
                  <a:srgbClr val="12182A"/>
                </a:solidFill>
                <a:latin typeface="Calibri"/>
              </a:rPr>
              <a:t>doğrulanmış</a:t>
            </a:r>
            <a:r>
              <a:rPr sz="1200" b="0" i="0" dirty="0">
                <a:solidFill>
                  <a:srgbClr val="12182A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12182A"/>
                </a:solidFill>
                <a:latin typeface="Calibri"/>
              </a:rPr>
              <a:t>akış</a:t>
            </a:r>
            <a:endParaRPr sz="1200" b="0" i="0" dirty="0">
              <a:solidFill>
                <a:srgbClr val="12182A"/>
              </a:solidFill>
              <a:latin typeface="Calibri"/>
            </a:endParaRPr>
          </a:p>
          <a:p>
            <a:pPr algn="l">
              <a:lnSpc>
                <a:spcPct val="110000"/>
              </a:lnSpc>
            </a:pPr>
            <a:r>
              <a:rPr sz="600" b="0" i="0" dirty="0">
                <a:solidFill>
                  <a:srgbClr val="12182A"/>
                </a:solidFill>
                <a:latin typeface="Calibri"/>
              </a:rPr>
              <a:t> </a:t>
            </a:r>
          </a:p>
          <a:p>
            <a:pPr algn="l">
              <a:lnSpc>
                <a:spcPct val="110000"/>
              </a:lnSpc>
            </a:pPr>
            <a:r>
              <a:rPr sz="1350" b="1" i="0" dirty="0" err="1">
                <a:solidFill>
                  <a:srgbClr val="0B2A5B"/>
                </a:solidFill>
                <a:latin typeface="Calibri"/>
              </a:rPr>
              <a:t>Doğrulanan</a:t>
            </a:r>
            <a:r>
              <a:rPr sz="1350" b="1" i="0" dirty="0">
                <a:solidFill>
                  <a:srgbClr val="0B2A5B"/>
                </a:solidFill>
                <a:latin typeface="Calibri"/>
              </a:rPr>
              <a:t> </a:t>
            </a:r>
            <a:r>
              <a:rPr sz="1350" b="1" i="0" dirty="0" err="1">
                <a:solidFill>
                  <a:srgbClr val="0B2A5B"/>
                </a:solidFill>
                <a:latin typeface="Calibri"/>
              </a:rPr>
              <a:t>Senaryolar</a:t>
            </a:r>
            <a:endParaRPr sz="1350" b="1" i="0" dirty="0">
              <a:solidFill>
                <a:srgbClr val="0B2A5B"/>
              </a:solidFill>
              <a:latin typeface="Calibri"/>
            </a:endParaRPr>
          </a:p>
          <a:p>
            <a:pPr marL="228600" indent="-228600" algn="l">
              <a:lnSpc>
                <a:spcPct val="110000"/>
              </a:lnSpc>
              <a:buChar char="•"/>
            </a:pPr>
            <a:r>
              <a:rPr sz="1200" b="0" i="0" dirty="0" err="1">
                <a:solidFill>
                  <a:srgbClr val="12182A"/>
                </a:solidFill>
                <a:latin typeface="Calibri"/>
              </a:rPr>
              <a:t>Yüz</a:t>
            </a:r>
            <a:r>
              <a:rPr sz="1200" b="0" i="0" dirty="0">
                <a:solidFill>
                  <a:srgbClr val="12182A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12182A"/>
                </a:solidFill>
                <a:latin typeface="Calibri"/>
              </a:rPr>
              <a:t>taraması</a:t>
            </a:r>
            <a:r>
              <a:rPr sz="1200" b="0" i="0" dirty="0">
                <a:solidFill>
                  <a:srgbClr val="12182A"/>
                </a:solidFill>
                <a:latin typeface="Calibri"/>
              </a:rPr>
              <a:t> → </a:t>
            </a:r>
            <a:r>
              <a:rPr sz="1200" b="0" i="0" dirty="0" err="1">
                <a:solidFill>
                  <a:srgbClr val="12182A"/>
                </a:solidFill>
                <a:latin typeface="Calibri"/>
              </a:rPr>
              <a:t>ışık</a:t>
            </a:r>
            <a:r>
              <a:rPr sz="1200" b="0" i="0" dirty="0">
                <a:solidFill>
                  <a:srgbClr val="12182A"/>
                </a:solidFill>
                <a:latin typeface="Calibri"/>
              </a:rPr>
              <a:t> + </a:t>
            </a:r>
            <a:r>
              <a:rPr sz="1200" b="0" i="0" dirty="0" err="1">
                <a:solidFill>
                  <a:srgbClr val="12182A"/>
                </a:solidFill>
                <a:latin typeface="Calibri"/>
              </a:rPr>
              <a:t>perde</a:t>
            </a:r>
            <a:r>
              <a:rPr sz="1200" b="0" i="0" dirty="0">
                <a:solidFill>
                  <a:srgbClr val="12182A"/>
                </a:solidFill>
                <a:latin typeface="Calibri"/>
              </a:rPr>
              <a:t> + </a:t>
            </a:r>
            <a:r>
              <a:rPr sz="1200" b="0" i="0" dirty="0" err="1">
                <a:solidFill>
                  <a:srgbClr val="12182A"/>
                </a:solidFill>
                <a:latin typeface="Calibri"/>
              </a:rPr>
              <a:t>müzik</a:t>
            </a:r>
            <a:r>
              <a:rPr sz="1200" b="0" i="0" dirty="0">
                <a:solidFill>
                  <a:srgbClr val="12182A"/>
                </a:solidFill>
                <a:latin typeface="Calibri"/>
              </a:rPr>
              <a:t> 3-yönlü </a:t>
            </a:r>
            <a:r>
              <a:rPr sz="1200" b="0" i="0" dirty="0" err="1">
                <a:solidFill>
                  <a:srgbClr val="12182A"/>
                </a:solidFill>
                <a:latin typeface="Calibri"/>
              </a:rPr>
              <a:t>uyum</a:t>
            </a:r>
            <a:r>
              <a:rPr sz="1200" b="0" i="0" dirty="0">
                <a:solidFill>
                  <a:srgbClr val="12182A"/>
                </a:solidFill>
                <a:latin typeface="Calibri"/>
              </a:rPr>
              <a:t> (≤ 1.5 </a:t>
            </a:r>
            <a:r>
              <a:rPr sz="1200" b="0" i="0" dirty="0" err="1">
                <a:solidFill>
                  <a:srgbClr val="12182A"/>
                </a:solidFill>
                <a:latin typeface="Calibri"/>
              </a:rPr>
              <a:t>sn</a:t>
            </a:r>
            <a:r>
              <a:rPr sz="1200" b="0" i="0" dirty="0">
                <a:solidFill>
                  <a:srgbClr val="12182A"/>
                </a:solidFill>
                <a:latin typeface="Calibri"/>
              </a:rPr>
              <a:t>)</a:t>
            </a:r>
          </a:p>
          <a:p>
            <a:pPr marL="228600" indent="-228600" algn="l">
              <a:lnSpc>
                <a:spcPct val="110000"/>
              </a:lnSpc>
              <a:buChar char="•"/>
            </a:pPr>
            <a:r>
              <a:rPr sz="1200" b="0" i="0" dirty="0" err="1">
                <a:solidFill>
                  <a:srgbClr val="12182A"/>
                </a:solidFill>
                <a:latin typeface="Calibri"/>
              </a:rPr>
              <a:t>Doğal</a:t>
            </a:r>
            <a:r>
              <a:rPr sz="1200" b="0" i="0" dirty="0">
                <a:solidFill>
                  <a:srgbClr val="12182A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12182A"/>
                </a:solidFill>
                <a:latin typeface="Calibri"/>
              </a:rPr>
              <a:t>dil</a:t>
            </a:r>
            <a:r>
              <a:rPr sz="1200" b="0" i="0" dirty="0">
                <a:solidFill>
                  <a:srgbClr val="12182A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12182A"/>
                </a:solidFill>
                <a:latin typeface="Calibri"/>
              </a:rPr>
              <a:t>ile</a:t>
            </a:r>
            <a:r>
              <a:rPr sz="1200" b="0" i="0" dirty="0">
                <a:solidFill>
                  <a:srgbClr val="12182A"/>
                </a:solidFill>
                <a:latin typeface="Calibri"/>
              </a:rPr>
              <a:t> 5 </a:t>
            </a:r>
            <a:r>
              <a:rPr sz="1200" b="0" i="0" dirty="0" err="1">
                <a:solidFill>
                  <a:srgbClr val="12182A"/>
                </a:solidFill>
                <a:latin typeface="Calibri"/>
              </a:rPr>
              <a:t>cihazın</a:t>
            </a:r>
            <a:r>
              <a:rPr sz="1200" b="0" i="0" dirty="0">
                <a:solidFill>
                  <a:srgbClr val="12182A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12182A"/>
                </a:solidFill>
                <a:latin typeface="Calibri"/>
              </a:rPr>
              <a:t>aynı</a:t>
            </a:r>
            <a:r>
              <a:rPr sz="1200" b="0" i="0" dirty="0">
                <a:solidFill>
                  <a:srgbClr val="12182A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12182A"/>
                </a:solidFill>
                <a:latin typeface="Calibri"/>
              </a:rPr>
              <a:t>anda</a:t>
            </a:r>
            <a:r>
              <a:rPr sz="1200" b="0" i="0" dirty="0">
                <a:solidFill>
                  <a:srgbClr val="12182A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12182A"/>
                </a:solidFill>
                <a:latin typeface="Calibri"/>
              </a:rPr>
              <a:t>kontrolü</a:t>
            </a:r>
            <a:r>
              <a:rPr sz="1200" b="0" i="0" dirty="0">
                <a:solidFill>
                  <a:srgbClr val="12182A"/>
                </a:solidFill>
                <a:latin typeface="Calibri"/>
              </a:rPr>
              <a:t> (Claude tool-use)</a:t>
            </a:r>
          </a:p>
          <a:p>
            <a:pPr marL="228600" indent="-228600" algn="l">
              <a:lnSpc>
                <a:spcPct val="110000"/>
              </a:lnSpc>
              <a:buChar char="•"/>
            </a:pPr>
            <a:r>
              <a:rPr sz="1200" b="0" i="0" dirty="0">
                <a:solidFill>
                  <a:srgbClr val="12182A"/>
                </a:solidFill>
                <a:latin typeface="Calibri"/>
              </a:rPr>
              <a:t>Gaz </a:t>
            </a:r>
            <a:r>
              <a:rPr sz="1200" b="0" i="0" dirty="0" err="1">
                <a:solidFill>
                  <a:srgbClr val="12182A"/>
                </a:solidFill>
                <a:latin typeface="Calibri"/>
              </a:rPr>
              <a:t>kaçağı</a:t>
            </a:r>
            <a:r>
              <a:rPr sz="1200" b="0" i="0" dirty="0">
                <a:solidFill>
                  <a:srgbClr val="12182A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12182A"/>
                </a:solidFill>
                <a:latin typeface="Calibri"/>
              </a:rPr>
              <a:t>simülasyonu</a:t>
            </a:r>
            <a:r>
              <a:rPr sz="1200" b="0" i="0" dirty="0">
                <a:solidFill>
                  <a:srgbClr val="12182A"/>
                </a:solidFill>
                <a:latin typeface="Calibri"/>
              </a:rPr>
              <a:t> → siren + push (≤ 2 </a:t>
            </a:r>
            <a:r>
              <a:rPr sz="1200" b="0" i="0" dirty="0" err="1">
                <a:solidFill>
                  <a:srgbClr val="12182A"/>
                </a:solidFill>
                <a:latin typeface="Calibri"/>
              </a:rPr>
              <a:t>sn</a:t>
            </a:r>
            <a:r>
              <a:rPr sz="1200" b="0" i="0" dirty="0">
                <a:solidFill>
                  <a:srgbClr val="12182A"/>
                </a:solidFill>
                <a:latin typeface="Calibri"/>
              </a:rPr>
              <a:t>)</a:t>
            </a:r>
          </a:p>
          <a:p>
            <a:pPr marL="228600" indent="-228600" algn="l">
              <a:lnSpc>
                <a:spcPct val="110000"/>
              </a:lnSpc>
              <a:buChar char="•"/>
            </a:pPr>
            <a:r>
              <a:rPr sz="1200" b="0" i="0" dirty="0">
                <a:solidFill>
                  <a:srgbClr val="12182A"/>
                </a:solidFill>
                <a:latin typeface="Calibri"/>
              </a:rPr>
              <a:t>QR </a:t>
            </a:r>
            <a:r>
              <a:rPr sz="1200" b="0" i="0" dirty="0" err="1">
                <a:solidFill>
                  <a:srgbClr val="12182A"/>
                </a:solidFill>
                <a:latin typeface="Calibri"/>
              </a:rPr>
              <a:t>davet</a:t>
            </a:r>
            <a:r>
              <a:rPr sz="1200" b="0" i="0" dirty="0">
                <a:solidFill>
                  <a:srgbClr val="12182A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12182A"/>
                </a:solidFill>
                <a:latin typeface="Calibri"/>
              </a:rPr>
              <a:t>ile</a:t>
            </a:r>
            <a:r>
              <a:rPr sz="1200" b="0" i="0" dirty="0">
                <a:solidFill>
                  <a:srgbClr val="12182A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12182A"/>
                </a:solidFill>
                <a:latin typeface="Calibri"/>
              </a:rPr>
              <a:t>ikinci</a:t>
            </a:r>
            <a:r>
              <a:rPr sz="1200" b="0" i="0" dirty="0">
                <a:solidFill>
                  <a:srgbClr val="12182A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12182A"/>
                </a:solidFill>
                <a:latin typeface="Calibri"/>
              </a:rPr>
              <a:t>kullanıcının</a:t>
            </a:r>
            <a:r>
              <a:rPr sz="1200" b="0" i="0" dirty="0">
                <a:solidFill>
                  <a:srgbClr val="12182A"/>
                </a:solidFill>
                <a:latin typeface="Calibri"/>
              </a:rPr>
              <a:t> eve </a:t>
            </a:r>
            <a:r>
              <a:rPr sz="1200" b="0" i="0" dirty="0" err="1">
                <a:solidFill>
                  <a:srgbClr val="12182A"/>
                </a:solidFill>
                <a:latin typeface="Calibri"/>
              </a:rPr>
              <a:t>katılımı</a:t>
            </a:r>
            <a:endParaRPr sz="1200" b="0" i="0" dirty="0">
              <a:solidFill>
                <a:srgbClr val="12182A"/>
              </a:solidFill>
              <a:latin typeface="Calibri"/>
            </a:endParaRPr>
          </a:p>
          <a:p>
            <a:pPr algn="l">
              <a:lnSpc>
                <a:spcPct val="110000"/>
              </a:lnSpc>
            </a:pPr>
            <a:r>
              <a:rPr sz="600" b="0" i="0" dirty="0">
                <a:solidFill>
                  <a:srgbClr val="12182A"/>
                </a:solidFill>
                <a:latin typeface="Calibri"/>
              </a:rPr>
              <a:t> </a:t>
            </a:r>
          </a:p>
          <a:p>
            <a:pPr algn="l">
              <a:lnSpc>
                <a:spcPct val="110000"/>
              </a:lnSpc>
            </a:pPr>
            <a:r>
              <a:rPr sz="1350" b="1" i="0" dirty="0" err="1">
                <a:solidFill>
                  <a:srgbClr val="0B2A5B"/>
                </a:solidFill>
                <a:latin typeface="Calibri"/>
              </a:rPr>
              <a:t>Yol</a:t>
            </a:r>
            <a:r>
              <a:rPr sz="1350" b="1" i="0" dirty="0">
                <a:solidFill>
                  <a:srgbClr val="0B2A5B"/>
                </a:solidFill>
                <a:latin typeface="Calibri"/>
              </a:rPr>
              <a:t> </a:t>
            </a:r>
            <a:r>
              <a:rPr sz="1350" b="1" i="0" dirty="0" err="1">
                <a:solidFill>
                  <a:srgbClr val="0B2A5B"/>
                </a:solidFill>
                <a:latin typeface="Calibri"/>
              </a:rPr>
              <a:t>Haritası</a:t>
            </a:r>
            <a:endParaRPr sz="1350" b="1" i="0" dirty="0">
              <a:solidFill>
                <a:srgbClr val="0B2A5B"/>
              </a:solidFill>
              <a:latin typeface="Calibri"/>
            </a:endParaRPr>
          </a:p>
          <a:p>
            <a:pPr marL="228600" indent="-228600" algn="l">
              <a:lnSpc>
                <a:spcPct val="110000"/>
              </a:lnSpc>
              <a:buChar char="•"/>
            </a:pPr>
            <a:r>
              <a:rPr sz="1200" b="0" i="0" dirty="0">
                <a:solidFill>
                  <a:srgbClr val="12182A"/>
                </a:solidFill>
                <a:latin typeface="Calibri"/>
              </a:rPr>
              <a:t>Ambient </a:t>
            </a:r>
            <a:r>
              <a:rPr sz="1200" b="0" i="0" dirty="0" err="1">
                <a:solidFill>
                  <a:srgbClr val="12182A"/>
                </a:solidFill>
                <a:latin typeface="Calibri"/>
              </a:rPr>
              <a:t>öneri</a:t>
            </a:r>
            <a:r>
              <a:rPr sz="1200" b="0" i="0" dirty="0">
                <a:solidFill>
                  <a:srgbClr val="12182A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12182A"/>
                </a:solidFill>
                <a:latin typeface="Calibri"/>
              </a:rPr>
              <a:t>panelinin</a:t>
            </a:r>
            <a:r>
              <a:rPr sz="1200" b="0" i="0" dirty="0">
                <a:solidFill>
                  <a:srgbClr val="12182A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12182A"/>
                </a:solidFill>
                <a:latin typeface="Calibri"/>
              </a:rPr>
              <a:t>gerçek</a:t>
            </a:r>
            <a:r>
              <a:rPr sz="1200" b="0" i="0" dirty="0">
                <a:solidFill>
                  <a:srgbClr val="12182A"/>
                </a:solidFill>
                <a:latin typeface="Calibri"/>
              </a:rPr>
              <a:t> IoT </a:t>
            </a:r>
            <a:r>
              <a:rPr sz="1200" b="0" i="0" dirty="0" err="1">
                <a:solidFill>
                  <a:srgbClr val="12182A"/>
                </a:solidFill>
                <a:latin typeface="Calibri"/>
              </a:rPr>
              <a:t>komutlarına</a:t>
            </a:r>
            <a:r>
              <a:rPr sz="1200" b="0" i="0" dirty="0">
                <a:solidFill>
                  <a:srgbClr val="12182A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12182A"/>
                </a:solidFill>
                <a:latin typeface="Calibri"/>
              </a:rPr>
              <a:t>bağlanması</a:t>
            </a:r>
            <a:endParaRPr sz="1200" b="0" i="0" dirty="0">
              <a:solidFill>
                <a:srgbClr val="12182A"/>
              </a:solidFill>
              <a:latin typeface="Calibri"/>
            </a:endParaRPr>
          </a:p>
          <a:p>
            <a:pPr marL="228600" indent="-228600" algn="l">
              <a:lnSpc>
                <a:spcPct val="110000"/>
              </a:lnSpc>
              <a:buChar char="•"/>
            </a:pPr>
            <a:r>
              <a:rPr sz="1200" b="0" i="0" dirty="0">
                <a:solidFill>
                  <a:srgbClr val="12182A"/>
                </a:solidFill>
                <a:latin typeface="Calibri"/>
              </a:rPr>
              <a:t>Pi </a:t>
            </a:r>
            <a:r>
              <a:rPr sz="1200" b="0" i="0" dirty="0" err="1">
                <a:solidFill>
                  <a:srgbClr val="12182A"/>
                </a:solidFill>
                <a:latin typeface="Calibri"/>
              </a:rPr>
              <a:t>modelinin</a:t>
            </a:r>
            <a:r>
              <a:rPr sz="1200" b="0" i="0" dirty="0">
                <a:solidFill>
                  <a:srgbClr val="12182A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12182A"/>
                </a:solidFill>
                <a:latin typeface="Calibri"/>
              </a:rPr>
              <a:t>TensorRT</a:t>
            </a:r>
            <a:r>
              <a:rPr sz="1200" b="0" i="0" dirty="0">
                <a:solidFill>
                  <a:srgbClr val="12182A"/>
                </a:solidFill>
                <a:latin typeface="Calibri"/>
              </a:rPr>
              <a:t>/</a:t>
            </a:r>
            <a:r>
              <a:rPr sz="1200" b="0" i="0" dirty="0" err="1">
                <a:solidFill>
                  <a:srgbClr val="12182A"/>
                </a:solidFill>
                <a:latin typeface="Calibri"/>
              </a:rPr>
              <a:t>OpenVINO</a:t>
            </a:r>
            <a:r>
              <a:rPr sz="1200" b="0" i="0" dirty="0">
                <a:solidFill>
                  <a:srgbClr val="12182A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12182A"/>
                </a:solidFill>
                <a:latin typeface="Calibri"/>
              </a:rPr>
              <a:t>ile</a:t>
            </a:r>
            <a:r>
              <a:rPr sz="1200" b="0" i="0" dirty="0">
                <a:solidFill>
                  <a:srgbClr val="12182A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12182A"/>
                </a:solidFill>
                <a:latin typeface="Calibri"/>
              </a:rPr>
              <a:t>niceliklendirilmesi</a:t>
            </a:r>
            <a:endParaRPr sz="1200" b="0" i="0" dirty="0">
              <a:solidFill>
                <a:srgbClr val="12182A"/>
              </a:solidFill>
              <a:latin typeface="Calibri"/>
            </a:endParaRPr>
          </a:p>
          <a:p>
            <a:pPr marL="228600" indent="-228600" algn="l">
              <a:lnSpc>
                <a:spcPct val="110000"/>
              </a:lnSpc>
              <a:buChar char="•"/>
            </a:pPr>
            <a:r>
              <a:rPr sz="1200" b="0" i="0" dirty="0" err="1">
                <a:solidFill>
                  <a:srgbClr val="12182A"/>
                </a:solidFill>
                <a:latin typeface="Calibri"/>
              </a:rPr>
              <a:t>Ses-tabanlı</a:t>
            </a:r>
            <a:r>
              <a:rPr sz="1200" b="0" i="0" dirty="0">
                <a:solidFill>
                  <a:srgbClr val="12182A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12182A"/>
                </a:solidFill>
                <a:latin typeface="Calibri"/>
              </a:rPr>
              <a:t>duygu</a:t>
            </a:r>
            <a:r>
              <a:rPr sz="1200" b="0" i="0" dirty="0">
                <a:solidFill>
                  <a:srgbClr val="12182A"/>
                </a:solidFill>
                <a:latin typeface="Calibri"/>
              </a:rPr>
              <a:t> (prosody) </a:t>
            </a:r>
            <a:r>
              <a:rPr sz="1200" b="0" i="0" dirty="0" err="1">
                <a:solidFill>
                  <a:srgbClr val="12182A"/>
                </a:solidFill>
                <a:latin typeface="Calibri"/>
              </a:rPr>
              <a:t>ile</a:t>
            </a:r>
            <a:r>
              <a:rPr sz="1200" b="0" i="0" dirty="0">
                <a:solidFill>
                  <a:srgbClr val="12182A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12182A"/>
                </a:solidFill>
                <a:latin typeface="Calibri"/>
              </a:rPr>
              <a:t>çok-modaliteli</a:t>
            </a:r>
            <a:r>
              <a:rPr sz="1200" b="0" i="0" dirty="0">
                <a:solidFill>
                  <a:srgbClr val="12182A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12182A"/>
                </a:solidFill>
                <a:latin typeface="Calibri"/>
              </a:rPr>
              <a:t>füzyon</a:t>
            </a:r>
            <a:endParaRPr sz="1200" b="0" i="0" dirty="0">
              <a:solidFill>
                <a:srgbClr val="12182A"/>
              </a:solidFill>
              <a:latin typeface="Calibri"/>
            </a:endParaRPr>
          </a:p>
          <a:p>
            <a:pPr marL="228600" indent="-228600" algn="l">
              <a:lnSpc>
                <a:spcPct val="110000"/>
              </a:lnSpc>
              <a:buChar char="•"/>
            </a:pPr>
            <a:r>
              <a:rPr sz="1200" b="0" i="0" dirty="0">
                <a:solidFill>
                  <a:srgbClr val="12182A"/>
                </a:solidFill>
                <a:latin typeface="Calibri"/>
              </a:rPr>
              <a:t>Apple HomeKit / Google Home </a:t>
            </a:r>
            <a:r>
              <a:rPr sz="1200" b="0" i="0" dirty="0" err="1">
                <a:solidFill>
                  <a:srgbClr val="12182A"/>
                </a:solidFill>
                <a:latin typeface="Calibri"/>
              </a:rPr>
              <a:t>köprüsü</a:t>
            </a:r>
            <a:endParaRPr sz="1200" b="0" i="0" dirty="0">
              <a:solidFill>
                <a:srgbClr val="12182A"/>
              </a:solidFill>
              <a:latin typeface="Calibri"/>
            </a:endParaRPr>
          </a:p>
        </p:txBody>
      </p:sp>
      <p:sp>
        <p:nvSpPr>
          <p:cNvPr id="191" name="Rounded Rectangle 190"/>
          <p:cNvSpPr/>
          <p:nvPr/>
        </p:nvSpPr>
        <p:spPr>
          <a:xfrm>
            <a:off x="10872000" y="25812000"/>
            <a:ext cx="10188000" cy="2880000"/>
          </a:xfrm>
          <a:prstGeom prst="round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TextBox 191"/>
          <p:cNvSpPr txBox="1"/>
          <p:nvPr/>
        </p:nvSpPr>
        <p:spPr>
          <a:xfrm>
            <a:off x="11088000" y="25992000"/>
            <a:ext cx="9756000" cy="503999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2000" b="1" i="0">
                <a:solidFill>
                  <a:srgbClr val="E36F1E"/>
                </a:solidFill>
                <a:latin typeface="Calibri"/>
              </a:rPr>
              <a:t>ÖZGÜN DEĞER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11088000" y="26532000"/>
            <a:ext cx="9756000" cy="1980000"/>
          </a:xfrm>
          <a:prstGeom prst="rect">
            <a:avLst/>
          </a:prstGeom>
          <a:noFill/>
        </p:spPr>
        <p:txBody>
          <a:bodyPr wrap="square" lIns="54000" tIns="36000" rIns="54000" bIns="3600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Bu çalışma; gizlilik koruyucu yerel duygu çıkarımını, tool-use yetenekli LLM ajanını ve kişisel-koleksiyon tabanlı müzik kişiselleştirmesini, sismik / gaz / RFID güvenlik katmanlarıyla birleştiren tek bir mobil deneyim altında bütünleşik olarak sunan ilk akademik prototiplerden biridir.</a:t>
            </a:r>
          </a:p>
          <a:p>
            <a:pPr algn="l">
              <a:lnSpc>
                <a:spcPct val="110000"/>
              </a:lnSpc>
            </a:pPr>
            <a:r>
              <a:rPr sz="500" b="0" i="0">
                <a:solidFill>
                  <a:srgbClr val="FFFFFF"/>
                </a:solidFill>
                <a:latin typeface="Calibri"/>
              </a:rPr>
              <a:t> </a:t>
            </a:r>
          </a:p>
          <a:p>
            <a:pPr algn="l">
              <a:lnSpc>
                <a:spcPct val="110000"/>
              </a:lnSpc>
            </a:pPr>
            <a:r>
              <a:rPr sz="1300" b="0" i="1">
                <a:solidFill>
                  <a:srgbClr val="FFD7A0"/>
                </a:solidFill>
                <a:latin typeface="Calibri"/>
              </a:rPr>
              <a:t>Sonuç olarak, akıllı ev artık yalnızca komut alan değil, kullanıcının duygu durumunu okuyup önceden uyum sağlayan, bir yaşam ortağına dönüşmüştür.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9F6CBC0-0BB4-33F4-B0C4-D0EBA7891E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650" y="1693566"/>
            <a:ext cx="1525610" cy="1426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24" name="Google Shape;107;p13">
            <a:extLst>
              <a:ext uri="{FF2B5EF4-FFF2-40B4-BE49-F238E27FC236}">
                <a16:creationId xmlns:a16="http://schemas.microsoft.com/office/drawing/2014/main" id="{A2BD3A55-1CC2-2585-8F63-48778DD7F0B7}"/>
              </a:ext>
            </a:extLst>
          </p:cNvPr>
          <p:cNvGrpSpPr/>
          <p:nvPr/>
        </p:nvGrpSpPr>
        <p:grpSpPr>
          <a:xfrm>
            <a:off x="4658835" y="28793002"/>
            <a:ext cx="13077328" cy="1464027"/>
            <a:chOff x="3799089" y="43083306"/>
            <a:chExt cx="13077328" cy="1463675"/>
          </a:xfrm>
        </p:grpSpPr>
        <p:pic>
          <p:nvPicPr>
            <p:cNvPr id="1025" name="Google Shape;108;p13">
              <a:extLst>
                <a:ext uri="{FF2B5EF4-FFF2-40B4-BE49-F238E27FC236}">
                  <a16:creationId xmlns:a16="http://schemas.microsoft.com/office/drawing/2014/main" id="{9E42B530-F139-FAB8-ECC5-C26BB9B483C9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 r="71882"/>
            <a:stretch/>
          </p:blipFill>
          <p:spPr>
            <a:xfrm>
              <a:off x="3799089" y="43083306"/>
              <a:ext cx="1646237" cy="14636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7" name="Google Shape;109;p13">
              <a:extLst>
                <a:ext uri="{FF2B5EF4-FFF2-40B4-BE49-F238E27FC236}">
                  <a16:creationId xmlns:a16="http://schemas.microsoft.com/office/drawing/2014/main" id="{3D4402EF-E9D5-C953-B3CF-731FDA78B111}"/>
                </a:ext>
              </a:extLst>
            </p:cNvPr>
            <p:cNvSpPr txBox="1"/>
            <p:nvPr/>
          </p:nvSpPr>
          <p:spPr>
            <a:xfrm>
              <a:off x="5386091" y="43130823"/>
              <a:ext cx="11490326" cy="13230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800"/>
                <a:buFont typeface="Calibri"/>
                <a:buNone/>
              </a:pPr>
              <a:r>
                <a:rPr lang="en-US" sz="4000" b="1" i="0" u="none" dirty="0" err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Genç</a:t>
              </a:r>
              <a:r>
                <a:rPr lang="en-US" sz="4000" b="1" i="0" u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</a:t>
              </a:r>
              <a:r>
                <a:rPr lang="en-US" sz="4000" b="1" i="0" u="none" dirty="0" err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Beyinler</a:t>
              </a:r>
              <a:r>
                <a:rPr lang="en-US" sz="4000" b="1" i="0" u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Yeni  </a:t>
              </a:r>
              <a:r>
                <a:rPr lang="en-US" sz="4000" b="1" i="0" u="none" dirty="0" err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Fikirler</a:t>
              </a:r>
              <a:endParaRPr sz="4000" dirty="0"/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800"/>
                <a:buFont typeface="Calibri"/>
                <a:buNone/>
              </a:pPr>
              <a:r>
                <a:rPr lang="en-US" sz="4000" b="0" i="0" u="none" dirty="0" err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Proje</a:t>
              </a:r>
              <a:r>
                <a:rPr lang="en-US" sz="4000" b="0" i="0" u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4000" b="0" i="0" u="none" dirty="0" err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Pazarı</a:t>
              </a:r>
              <a:r>
                <a:rPr lang="en-US" sz="4000" b="0" i="0" u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4000" b="0" i="0" u="none" dirty="0" err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ve</a:t>
              </a:r>
              <a:r>
                <a:rPr lang="en-US" sz="4000" b="0" i="0" u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4000" b="0" i="0" u="none" dirty="0" err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Bitirme</a:t>
              </a:r>
              <a:r>
                <a:rPr lang="en-US" sz="4000" b="0" i="0" u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4000" b="0" i="0" u="none" dirty="0" err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Projeleri</a:t>
              </a:r>
              <a:r>
                <a:rPr lang="en-US" sz="4000" b="0" i="0" u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4000" b="0" i="0" u="none" dirty="0" err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Ortak</a:t>
              </a:r>
              <a:r>
                <a:rPr lang="en-US" sz="4000" b="0" i="0" u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4000" b="0" i="0" u="none" dirty="0" err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Sergisi</a:t>
              </a:r>
              <a:endParaRPr sz="4000" dirty="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1406</Words>
  <Application>Microsoft Office PowerPoint</Application>
  <PresentationFormat>Custom</PresentationFormat>
  <Paragraphs>195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Emre</dc:creator>
  <cp:keywords/>
  <dc:description>generated using python-pptx</dc:description>
  <cp:lastModifiedBy>Emre Akkaya</cp:lastModifiedBy>
  <cp:revision>4</cp:revision>
  <dcterms:created xsi:type="dcterms:W3CDTF">2013-01-27T09:14:16Z</dcterms:created>
  <dcterms:modified xsi:type="dcterms:W3CDTF">2026-04-30T15:38:54Z</dcterms:modified>
  <cp:category/>
</cp:coreProperties>
</file>